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82"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4630400" cy="8229600"/>
  <p:notesSz cx="8229600" cy="14630400"/>
  <p:embeddedFontLst>
    <p:embeddedFont>
      <p:font typeface="Gill Sans MT" panose="020B0502020104020203" pitchFamily="34" charset="0"/>
      <p:regular r:id="rId16"/>
      <p:bold r:id="rId17"/>
      <p:italic r:id="rId18"/>
      <p:boldItalic r:id="rId19"/>
    </p:embeddedFont>
    <p:embeddedFont>
      <p:font typeface="Raleway" pitchFamily="2" charset="0"/>
      <p:regular r:id="rId20"/>
    </p:embeddedFont>
    <p:embeddedFont>
      <p:font typeface="Roboto" panose="02000000000000000000" pitchFamily="2"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7471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901335" y="962758"/>
            <a:ext cx="10364488" cy="3049717"/>
          </a:xfrm>
        </p:spPr>
        <p:txBody>
          <a:bodyPr bIns="0" anchor="b">
            <a:normAutofit/>
          </a:bodyPr>
          <a:lstStyle>
            <a:lvl1pPr algn="l">
              <a:defRPr sz="7920"/>
            </a:lvl1pPr>
          </a:lstStyle>
          <a:p>
            <a:r>
              <a:rPr lang="en-US"/>
              <a:t>Click to edit Master title style</a:t>
            </a:r>
            <a:endParaRPr lang="en-US" dirty="0"/>
          </a:p>
        </p:txBody>
      </p:sp>
      <p:sp>
        <p:nvSpPr>
          <p:cNvPr id="3" name="Subtitle 2"/>
          <p:cNvSpPr>
            <a:spLocks noGrp="1"/>
          </p:cNvSpPr>
          <p:nvPr>
            <p:ph type="subTitle" idx="1"/>
          </p:nvPr>
        </p:nvSpPr>
        <p:spPr>
          <a:xfrm>
            <a:off x="2901336" y="4237446"/>
            <a:ext cx="10364486" cy="1173145"/>
          </a:xfrm>
        </p:spPr>
        <p:txBody>
          <a:bodyPr tIns="91440" bIns="91440">
            <a:normAutofit/>
          </a:bodyPr>
          <a:lstStyle>
            <a:lvl1pPr marL="0" indent="0" algn="l">
              <a:buNone/>
              <a:defRPr sz="2160" b="0" cap="all" baseline="0">
                <a:solidFill>
                  <a:schemeClr val="tx1"/>
                </a:solidFill>
              </a:defRPr>
            </a:lvl1pPr>
            <a:lvl2pPr marL="548640" indent="0" algn="ctr">
              <a:buNone/>
              <a:defRPr sz="216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AD6EE87-EBD5-4F12-A48A-63ACA297AC8F}" type="datetimeFigureOut">
              <a:rPr lang="en-US" smtClean="0"/>
              <a:t>4/15/2026</a:t>
            </a:fld>
            <a:endParaRPr lang="en-US" dirty="0"/>
          </a:p>
        </p:txBody>
      </p:sp>
      <p:sp>
        <p:nvSpPr>
          <p:cNvPr id="5" name="Footer Placeholder 4"/>
          <p:cNvSpPr>
            <a:spLocks noGrp="1"/>
          </p:cNvSpPr>
          <p:nvPr>
            <p:ph type="ftr" sz="quarter" idx="11"/>
          </p:nvPr>
        </p:nvSpPr>
        <p:spPr>
          <a:xfrm>
            <a:off x="2899801" y="395169"/>
            <a:ext cx="5968698" cy="371041"/>
          </a:xfrm>
        </p:spPr>
        <p:txBody>
          <a:bodyPr/>
          <a:lstStyle/>
          <a:p>
            <a:endParaRPr lang="en-US" dirty="0"/>
          </a:p>
        </p:txBody>
      </p:sp>
      <p:sp>
        <p:nvSpPr>
          <p:cNvPr id="6" name="Slide Number Placeholder 5"/>
          <p:cNvSpPr>
            <a:spLocks noGrp="1"/>
          </p:cNvSpPr>
          <p:nvPr>
            <p:ph type="sldNum" sz="quarter" idx="12"/>
          </p:nvPr>
        </p:nvSpPr>
        <p:spPr>
          <a:xfrm>
            <a:off x="1725197" y="958767"/>
            <a:ext cx="973223" cy="604294"/>
          </a:xfrm>
        </p:spPr>
        <p:txBody>
          <a:bodyPr/>
          <a:lstStyle/>
          <a:p>
            <a:fld id="{4FAB73BC-B049-4115-A692-8D63A059BFB8}" type="slidenum">
              <a:rPr lang="en-US" smtClean="0"/>
              <a:t>‹#›</a:t>
            </a:fld>
            <a:endParaRPr lang="en-US" dirty="0"/>
          </a:p>
        </p:txBody>
      </p:sp>
      <p:cxnSp>
        <p:nvCxnSpPr>
          <p:cNvPr id="15" name="Straight Connector 14"/>
          <p:cNvCxnSpPr/>
          <p:nvPr/>
        </p:nvCxnSpPr>
        <p:spPr>
          <a:xfrm>
            <a:off x="2901336" y="4234250"/>
            <a:ext cx="1036448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544117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33" name="Straight Connector 32"/>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735719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45087" y="2107356"/>
            <a:ext cx="10371785" cy="2265540"/>
          </a:xfrm>
        </p:spPr>
        <p:txBody>
          <a:bodyPr anchor="b">
            <a:normAutofit/>
          </a:bodyPr>
          <a:lstStyle>
            <a:lvl1pPr algn="l">
              <a:defRPr sz="4320"/>
            </a:lvl1pPr>
          </a:lstStyle>
          <a:p>
            <a:r>
              <a:rPr lang="en-US"/>
              <a:t>Click to edit Master title style</a:t>
            </a:r>
            <a:endParaRPr lang="en-US" dirty="0"/>
          </a:p>
        </p:txBody>
      </p:sp>
      <p:sp>
        <p:nvSpPr>
          <p:cNvPr id="3" name="Text Placeholder 2"/>
          <p:cNvSpPr>
            <a:spLocks noGrp="1"/>
          </p:cNvSpPr>
          <p:nvPr>
            <p:ph type="body" idx="1"/>
          </p:nvPr>
        </p:nvSpPr>
        <p:spPr>
          <a:xfrm>
            <a:off x="1745087" y="4567435"/>
            <a:ext cx="10356535" cy="1215515"/>
          </a:xfrm>
        </p:spPr>
        <p:txBody>
          <a:bodyPr tIns="91440">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1745087" y="4565982"/>
            <a:ext cx="1035653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13209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739061" y="965867"/>
            <a:ext cx="11526762" cy="127116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736797" y="2413054"/>
            <a:ext cx="5574182" cy="41383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96525" y="2420812"/>
            <a:ext cx="5574182" cy="41298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35" name="Straight Connector 3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5501846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736630" y="964996"/>
            <a:ext cx="11529193" cy="126758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736629" y="2423459"/>
            <a:ext cx="5574182" cy="962332"/>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736629" y="3389124"/>
            <a:ext cx="5574182" cy="31733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94835" y="2427604"/>
            <a:ext cx="5574182" cy="962684"/>
          </a:xfrm>
        </p:spPr>
        <p:txBody>
          <a:bodyPr anchor="b">
            <a:normAutofit/>
          </a:bodyPr>
          <a:lstStyle>
            <a:lvl1pPr marL="0" indent="0">
              <a:lnSpc>
                <a:spcPct val="100000"/>
              </a:lnSpc>
              <a:buNone/>
              <a:defRPr sz="2640" b="0" cap="all" baseline="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694835" y="3385790"/>
            <a:ext cx="5574182" cy="31648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4/15/2026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cxnSp>
        <p:nvCxnSpPr>
          <p:cNvPr id="29" name="Straight Connector 28"/>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563518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4/15/2026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cxnSp>
        <p:nvCxnSpPr>
          <p:cNvPr id="25" name="Straight Connector 24"/>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369216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4/15/2026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22475115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33606" y="958768"/>
            <a:ext cx="3927719" cy="2696540"/>
          </a:xfrm>
        </p:spPr>
        <p:txBody>
          <a:bodyPr anchor="b">
            <a:normAutofit/>
          </a:bodyPr>
          <a:lstStyle>
            <a:lvl1pPr algn="l">
              <a:defRPr sz="2880"/>
            </a:lvl1pPr>
          </a:lstStyle>
          <a:p>
            <a:r>
              <a:rPr lang="en-US"/>
              <a:t>Click to edit Master title style</a:t>
            </a:r>
            <a:endParaRPr lang="en-US" dirty="0"/>
          </a:p>
        </p:txBody>
      </p:sp>
      <p:sp>
        <p:nvSpPr>
          <p:cNvPr id="3" name="Content Placeholder 2"/>
          <p:cNvSpPr>
            <a:spLocks noGrp="1"/>
          </p:cNvSpPr>
          <p:nvPr>
            <p:ph idx="1"/>
          </p:nvPr>
        </p:nvSpPr>
        <p:spPr>
          <a:xfrm>
            <a:off x="6052457" y="958769"/>
            <a:ext cx="7214964" cy="559059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733606" y="3846590"/>
            <a:ext cx="3930016" cy="2697817"/>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4/15/2026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17" name="Straight Connector 16"/>
          <p:cNvCxnSpPr/>
          <p:nvPr/>
        </p:nvCxnSpPr>
        <p:spPr>
          <a:xfrm>
            <a:off x="1737936" y="3846589"/>
            <a:ext cx="3923388"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0638327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8972865" y="578605"/>
            <a:ext cx="4889440" cy="617892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741447" y="1355416"/>
            <a:ext cx="6638794" cy="2196701"/>
          </a:xfrm>
        </p:spPr>
        <p:txBody>
          <a:bodyPr anchor="b">
            <a:normAutofit/>
          </a:bodyPr>
          <a:lstStyle>
            <a:lvl1pPr>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749268" y="1347051"/>
            <a:ext cx="3349405" cy="4639592"/>
          </a:xfrm>
          <a:solidFill>
            <a:schemeClr val="bg1">
              <a:lumMod val="85000"/>
            </a:schemeClr>
          </a:solidFill>
          <a:ln w="9525" cap="sq">
            <a:noFill/>
            <a:miter lim="800000"/>
          </a:ln>
          <a:effectLst/>
        </p:spPr>
        <p:txBody>
          <a:bodyPr anchor="t"/>
          <a:lstStyle>
            <a:lvl1pPr marL="0" indent="0" algn="ctr">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740395" y="3775191"/>
            <a:ext cx="6629285" cy="2404490"/>
          </a:xfrm>
        </p:spPr>
        <p:txBody>
          <a:bodyPr>
            <a:normAutofit/>
          </a:bodyPr>
          <a:lstStyle>
            <a:lvl1pPr marL="0" indent="0" algn="l">
              <a:buNone/>
              <a:defRPr sz="216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1736859" y="6563828"/>
            <a:ext cx="6632821" cy="384148"/>
          </a:xfrm>
        </p:spPr>
        <p:txBody>
          <a:bodyPr/>
          <a:lstStyle>
            <a:lvl1pPr algn="l">
              <a:defRPr/>
            </a:lvl1pPr>
          </a:lstStyle>
          <a:p>
            <a:fld id="{C7616CA0-919D-4A49-9C8A-62FDFB3A5183}" type="datetimeFigureOut">
              <a:rPr lang="en-US" smtClean="0"/>
              <a:t>4/15/2026</a:t>
            </a:fld>
            <a:endParaRPr lang="en-US" dirty="0"/>
          </a:p>
        </p:txBody>
      </p:sp>
      <p:sp>
        <p:nvSpPr>
          <p:cNvPr id="6" name="Footer Placeholder 5"/>
          <p:cNvSpPr>
            <a:spLocks noGrp="1"/>
          </p:cNvSpPr>
          <p:nvPr>
            <p:ph type="ftr" sz="quarter" idx="11"/>
          </p:nvPr>
        </p:nvSpPr>
        <p:spPr>
          <a:xfrm>
            <a:off x="1736858" y="382369"/>
            <a:ext cx="6649205" cy="385117"/>
          </a:xfrm>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cxnSp>
        <p:nvCxnSpPr>
          <p:cNvPr id="31" name="Straight Connector 30"/>
          <p:cNvCxnSpPr/>
          <p:nvPr/>
        </p:nvCxnSpPr>
        <p:spPr>
          <a:xfrm>
            <a:off x="1736859" y="3772326"/>
            <a:ext cx="663282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547879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26" name="Straight Connector 25"/>
          <p:cNvCxnSpPr/>
          <p:nvPr/>
        </p:nvCxnSpPr>
        <p:spPr>
          <a:xfrm>
            <a:off x="1744675" y="2216506"/>
            <a:ext cx="1152902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0023947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26933" y="958768"/>
            <a:ext cx="1938890" cy="5591867"/>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733606" y="958768"/>
            <a:ext cx="9394596" cy="559186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4/15/2026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15" name="Straight Connector 14"/>
          <p:cNvCxnSpPr/>
          <p:nvPr/>
        </p:nvCxnSpPr>
        <p:spPr>
          <a:xfrm>
            <a:off x="11326933" y="958768"/>
            <a:ext cx="0" cy="5591867"/>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8960576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888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73554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7365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1017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01002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8725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09104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47534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81361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6105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423372"/>
            <a:ext cx="14630400" cy="49271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23">
            <a:extLst>
              <a:ext uri="{28A0092B-C50C-407E-A947-70E740481C1C}">
                <a14:useLocalDpi xmlns:a14="http://schemas.microsoft.com/office/drawing/2010/main" val="0"/>
              </a:ext>
            </a:extLst>
          </a:blip>
          <a:srcRect t="1538" b="-1538"/>
          <a:stretch/>
        </p:blipFill>
        <p:spPr bwMode="black">
          <a:xfrm>
            <a:off x="0" y="7351776"/>
            <a:ext cx="14630400" cy="891540"/>
          </a:xfrm>
          <a:prstGeom prst="rect">
            <a:avLst/>
          </a:prstGeom>
        </p:spPr>
      </p:pic>
      <p:sp>
        <p:nvSpPr>
          <p:cNvPr id="2" name="Title Placeholder 1"/>
          <p:cNvSpPr>
            <a:spLocks noGrp="1"/>
          </p:cNvSpPr>
          <p:nvPr>
            <p:ph type="title"/>
          </p:nvPr>
        </p:nvSpPr>
        <p:spPr>
          <a:xfrm>
            <a:off x="1741895" y="965423"/>
            <a:ext cx="11523930" cy="12590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741895" y="2418879"/>
            <a:ext cx="11523930" cy="41407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64966" y="396445"/>
            <a:ext cx="4200858" cy="371041"/>
          </a:xfrm>
          <a:prstGeom prst="rect">
            <a:avLst/>
          </a:prstGeom>
        </p:spPr>
        <p:txBody>
          <a:bodyPr vert="horz" lIns="91440" tIns="45720" rIns="91440" bIns="45720" rtlCol="0" anchor="ctr"/>
          <a:lstStyle>
            <a:lvl1pPr algn="r">
              <a:defRPr sz="1200">
                <a:solidFill>
                  <a:schemeClr val="tx1">
                    <a:tint val="75000"/>
                  </a:schemeClr>
                </a:solidFill>
              </a:defRPr>
            </a:lvl1pPr>
          </a:lstStyle>
          <a:p>
            <a:fld id="{90298CD5-6C1E-4009-B41F-6DF62E31D3BE}" type="datetimeFigureOut">
              <a:rPr lang="en-US" smtClean="0"/>
              <a:pPr/>
              <a:t>4/15/2026</a:t>
            </a:fld>
            <a:endParaRPr lang="en-US" dirty="0"/>
          </a:p>
        </p:txBody>
      </p:sp>
      <p:sp>
        <p:nvSpPr>
          <p:cNvPr id="5" name="Footer Placeholder 4"/>
          <p:cNvSpPr>
            <a:spLocks noGrp="1"/>
          </p:cNvSpPr>
          <p:nvPr>
            <p:ph type="ftr" sz="quarter" idx="3"/>
          </p:nvPr>
        </p:nvSpPr>
        <p:spPr>
          <a:xfrm>
            <a:off x="1741895" y="395169"/>
            <a:ext cx="7126603" cy="371041"/>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76073" y="958767"/>
            <a:ext cx="973223" cy="604294"/>
          </a:xfrm>
          <a:prstGeom prst="rect">
            <a:avLst/>
          </a:prstGeom>
        </p:spPr>
        <p:txBody>
          <a:bodyPr vert="horz" lIns="91440" tIns="45720" rIns="91440" bIns="45720" rtlCol="0" anchor="t"/>
          <a:lstStyle>
            <a:lvl1pPr algn="r">
              <a:defRPr sz="3360">
                <a:solidFill>
                  <a:schemeClr val="accent1"/>
                </a:solidFill>
              </a:defRPr>
            </a:lvl1pPr>
          </a:lstStyle>
          <a:p>
            <a:fld id="{4FAB73BC-B049-4115-A692-8D63A059BFB8}" type="slidenum">
              <a:rPr lang="en-US" smtClean="0"/>
              <a:pPr/>
              <a:t>‹#›</a:t>
            </a:fld>
            <a:endParaRPr lang="en-US" dirty="0"/>
          </a:p>
        </p:txBody>
      </p:sp>
      <p:cxnSp>
        <p:nvCxnSpPr>
          <p:cNvPr id="10" name="Straight Connector 9"/>
          <p:cNvCxnSpPr/>
          <p:nvPr/>
        </p:nvCxnSpPr>
        <p:spPr>
          <a:xfrm>
            <a:off x="0" y="7354096"/>
            <a:ext cx="146304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35868"/>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Lst>
  <p:hf sldNum="0" hdr="0" ftr="0" dt="0"/>
  <p:txStyles>
    <p:titleStyle>
      <a:lvl1pPr algn="l" defTabSz="1097280" rtl="0" eaLnBrk="1" latinLnBrk="0" hangingPunct="1">
        <a:lnSpc>
          <a:spcPct val="90000"/>
        </a:lnSpc>
        <a:spcBef>
          <a:spcPct val="0"/>
        </a:spcBef>
        <a:buNone/>
        <a:defRPr sz="3840" b="0" i="0" kern="1200" cap="all">
          <a:solidFill>
            <a:schemeClr val="tx1"/>
          </a:solidFill>
          <a:effectLst/>
          <a:latin typeface="+mj-lt"/>
          <a:ea typeface="+mj-ea"/>
          <a:cs typeface="+mj-cs"/>
        </a:defRPr>
      </a:lvl1pPr>
    </p:titleStyle>
    <p:bodyStyle>
      <a:lvl1pPr marL="274320" indent="-274320" algn="l" defTabSz="1097280" rtl="0" eaLnBrk="1" latinLnBrk="0" hangingPunct="1">
        <a:lnSpc>
          <a:spcPct val="120000"/>
        </a:lnSpc>
        <a:spcBef>
          <a:spcPts val="1200"/>
        </a:spcBef>
        <a:buClr>
          <a:schemeClr val="accent1"/>
        </a:buClr>
        <a:buSzPct val="100000"/>
        <a:buFont typeface="Arial" panose="020B0604020202020204" pitchFamily="34" charset="0"/>
        <a:buChar char="•"/>
        <a:defRPr sz="2400" kern="1200">
          <a:solidFill>
            <a:schemeClr val="tx1"/>
          </a:solidFill>
          <a:effectLst/>
          <a:latin typeface="+mn-lt"/>
          <a:ea typeface="+mn-ea"/>
          <a:cs typeface="+mn-cs"/>
        </a:defRPr>
      </a:lvl1pPr>
      <a:lvl2pPr marL="8229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2160" kern="1200" cap="none" baseline="0">
          <a:solidFill>
            <a:schemeClr val="tx1"/>
          </a:solidFill>
          <a:effectLst/>
          <a:latin typeface="+mn-lt"/>
          <a:ea typeface="+mn-ea"/>
          <a:cs typeface="+mn-cs"/>
        </a:defRPr>
      </a:lvl2pPr>
      <a:lvl3pPr marL="13716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920" kern="1200">
          <a:solidFill>
            <a:schemeClr val="tx1"/>
          </a:solidFill>
          <a:effectLst/>
          <a:latin typeface="+mn-lt"/>
          <a:ea typeface="+mn-ea"/>
          <a:cs typeface="+mn-cs"/>
        </a:defRPr>
      </a:lvl3pPr>
      <a:lvl4pPr marL="19202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680" kern="1200" cap="none" baseline="0">
          <a:solidFill>
            <a:schemeClr val="tx1"/>
          </a:solidFill>
          <a:effectLst/>
          <a:latin typeface="+mn-lt"/>
          <a:ea typeface="+mn-ea"/>
          <a:cs typeface="+mn-cs"/>
        </a:defRPr>
      </a:lvl4pPr>
      <a:lvl5pPr marL="246888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5pPr>
      <a:lvl6pPr marL="301752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6pPr>
      <a:lvl7pPr marL="356616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a:solidFill>
            <a:schemeClr val="tx1"/>
          </a:solidFill>
          <a:effectLst/>
          <a:latin typeface="+mn-lt"/>
          <a:ea typeface="+mn-ea"/>
          <a:cs typeface="+mn-cs"/>
        </a:defRPr>
      </a:lvl7pPr>
      <a:lvl8pPr marL="411480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8pPr>
      <a:lvl9pPr marL="4663440" indent="-274320" algn="l" defTabSz="1097280" rtl="0" eaLnBrk="1" latinLnBrk="0" hangingPunct="1">
        <a:lnSpc>
          <a:spcPct val="120000"/>
        </a:lnSpc>
        <a:spcBef>
          <a:spcPts val="600"/>
        </a:spcBef>
        <a:buClr>
          <a:schemeClr val="accent1"/>
        </a:buClr>
        <a:buSzPct val="100000"/>
        <a:buFont typeface="Arial" panose="020B0604020202020204" pitchFamily="34" charset="0"/>
        <a:buChar char="•"/>
        <a:defRPr sz="1440" kern="1200" baseline="0">
          <a:solidFill>
            <a:schemeClr val="tx1"/>
          </a:solidFill>
          <a:effectLst/>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0.xml"/><Relationship Id="rId1" Type="http://schemas.openxmlformats.org/officeDocument/2006/relationships/slideLayout" Target="../slideLayouts/slideLayout21.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sv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3" name="Text 0"/>
          <p:cNvSpPr/>
          <p:nvPr/>
        </p:nvSpPr>
        <p:spPr>
          <a:xfrm>
            <a:off x="2425163" y="2253312"/>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1B1B27"/>
                </a:solidFill>
                <a:latin typeface="Raleway" pitchFamily="34" charset="0"/>
                <a:ea typeface="Raleway" pitchFamily="34" charset="-122"/>
                <a:cs typeface="Raleway" pitchFamily="34" charset="-120"/>
              </a:rPr>
              <a:t>Smart Energy Consumption Forecasting using Machine Learning</a:t>
            </a:r>
            <a:endParaRPr lang="en-US" sz="4450" dirty="0"/>
          </a:p>
        </p:txBody>
      </p:sp>
      <p:sp>
        <p:nvSpPr>
          <p:cNvPr id="4" name="Text 1"/>
          <p:cNvSpPr/>
          <p:nvPr/>
        </p:nvSpPr>
        <p:spPr>
          <a:xfrm>
            <a:off x="2425163" y="4719811"/>
            <a:ext cx="7556421" cy="1088708"/>
          </a:xfrm>
          <a:prstGeom prst="rect">
            <a:avLst/>
          </a:prstGeom>
          <a:noFill/>
          <a:ln/>
        </p:spPr>
        <p:txBody>
          <a:bodyPr wrap="square" lIns="0" tIns="0" rIns="0" bIns="0" rtlCol="0" anchor="t"/>
          <a:lstStyle/>
          <a:p>
            <a:pPr marL="0" indent="0" algn="just">
              <a:lnSpc>
                <a:spcPts val="2850"/>
              </a:lnSpc>
              <a:buNone/>
            </a:pPr>
            <a:r>
              <a:rPr lang="en-US" sz="1750" dirty="0">
                <a:solidFill>
                  <a:srgbClr val="3C3939"/>
                </a:solidFill>
                <a:latin typeface="Roboto" pitchFamily="34" charset="0"/>
                <a:ea typeface="Roboto" pitchFamily="34" charset="-122"/>
                <a:cs typeface="Roboto" pitchFamily="34" charset="-120"/>
              </a:rPr>
              <a:t>Combining time-series methods and machine learning to predict short- and medium-term electricity consumption from smart meter data. For  researchers and technical stakeholders in energy systems and ML.</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3" name="Text 0"/>
          <p:cNvSpPr/>
          <p:nvPr/>
        </p:nvSpPr>
        <p:spPr>
          <a:xfrm>
            <a:off x="2576751" y="1681282"/>
            <a:ext cx="6820376"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Why Energy Forecasting Matters</a:t>
            </a:r>
            <a:endParaRPr lang="en-US" sz="3550" dirty="0"/>
          </a:p>
        </p:txBody>
      </p:sp>
      <p:sp>
        <p:nvSpPr>
          <p:cNvPr id="4" name="Shape 1"/>
          <p:cNvSpPr/>
          <p:nvPr/>
        </p:nvSpPr>
        <p:spPr>
          <a:xfrm>
            <a:off x="2576751" y="2588419"/>
            <a:ext cx="3664744" cy="2047994"/>
          </a:xfrm>
          <a:prstGeom prst="roundRect">
            <a:avLst>
              <a:gd name="adj" fmla="val 4652"/>
            </a:avLst>
          </a:prstGeom>
          <a:solidFill>
            <a:srgbClr val="E1E1EA"/>
          </a:solidFill>
          <a:ln w="7620">
            <a:solidFill>
              <a:srgbClr val="C7C7D0"/>
            </a:solidFill>
            <a:prstDash val="solid"/>
          </a:ln>
        </p:spPr>
      </p:sp>
      <p:sp>
        <p:nvSpPr>
          <p:cNvPr id="5" name="Text 2"/>
          <p:cNvSpPr/>
          <p:nvPr/>
        </p:nvSpPr>
        <p:spPr>
          <a:xfrm>
            <a:off x="2811185" y="282285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Grid Reliability</a:t>
            </a:r>
            <a:endParaRPr lang="en-US" sz="2200" dirty="0"/>
          </a:p>
        </p:txBody>
      </p:sp>
      <p:sp>
        <p:nvSpPr>
          <p:cNvPr id="6" name="Text 3"/>
          <p:cNvSpPr/>
          <p:nvPr/>
        </p:nvSpPr>
        <p:spPr>
          <a:xfrm>
            <a:off x="2811185" y="3313271"/>
            <a:ext cx="3195876"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Accurate demand forecasts reduce overload risk and inform dispatch decisions.</a:t>
            </a:r>
            <a:endParaRPr lang="en-US" sz="1750" dirty="0"/>
          </a:p>
        </p:txBody>
      </p:sp>
      <p:sp>
        <p:nvSpPr>
          <p:cNvPr id="7" name="Shape 4"/>
          <p:cNvSpPr/>
          <p:nvPr/>
        </p:nvSpPr>
        <p:spPr>
          <a:xfrm>
            <a:off x="6468309" y="2588419"/>
            <a:ext cx="3664863" cy="2047994"/>
          </a:xfrm>
          <a:prstGeom prst="roundRect">
            <a:avLst>
              <a:gd name="adj" fmla="val 4652"/>
            </a:avLst>
          </a:prstGeom>
          <a:solidFill>
            <a:srgbClr val="E1E1EA"/>
          </a:solidFill>
          <a:ln w="7620">
            <a:solidFill>
              <a:srgbClr val="C7C7D0"/>
            </a:solidFill>
            <a:prstDash val="solid"/>
          </a:ln>
        </p:spPr>
      </p:sp>
      <p:sp>
        <p:nvSpPr>
          <p:cNvPr id="8" name="Text 5"/>
          <p:cNvSpPr/>
          <p:nvPr/>
        </p:nvSpPr>
        <p:spPr>
          <a:xfrm>
            <a:off x="6702743" y="2822853"/>
            <a:ext cx="2864882"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Operational Efficiency</a:t>
            </a:r>
            <a:endParaRPr lang="en-US" sz="2200" dirty="0"/>
          </a:p>
        </p:txBody>
      </p:sp>
      <p:sp>
        <p:nvSpPr>
          <p:cNvPr id="9" name="Text 6"/>
          <p:cNvSpPr/>
          <p:nvPr/>
        </p:nvSpPr>
        <p:spPr>
          <a:xfrm>
            <a:off x="6702743" y="3313271"/>
            <a:ext cx="3195995"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Improves unit commitment, reduces reserve margins, and lowers cost.</a:t>
            </a:r>
            <a:endParaRPr lang="en-US" sz="1750" dirty="0"/>
          </a:p>
        </p:txBody>
      </p:sp>
      <p:sp>
        <p:nvSpPr>
          <p:cNvPr id="10" name="Shape 7"/>
          <p:cNvSpPr/>
          <p:nvPr/>
        </p:nvSpPr>
        <p:spPr>
          <a:xfrm>
            <a:off x="2576751" y="4863227"/>
            <a:ext cx="7556421" cy="1685092"/>
          </a:xfrm>
          <a:prstGeom prst="roundRect">
            <a:avLst>
              <a:gd name="adj" fmla="val 5654"/>
            </a:avLst>
          </a:prstGeom>
          <a:solidFill>
            <a:srgbClr val="E1E1EA"/>
          </a:solidFill>
          <a:ln w="7620">
            <a:solidFill>
              <a:srgbClr val="C7C7D0"/>
            </a:solidFill>
            <a:prstDash val="solid"/>
          </a:ln>
        </p:spPr>
      </p:sp>
      <p:sp>
        <p:nvSpPr>
          <p:cNvPr id="11" name="Text 8"/>
          <p:cNvSpPr/>
          <p:nvPr/>
        </p:nvSpPr>
        <p:spPr>
          <a:xfrm>
            <a:off x="2811185" y="5097661"/>
            <a:ext cx="495871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Demand Response &amp; Decarbonization</a:t>
            </a:r>
            <a:endParaRPr lang="en-US" sz="2200" dirty="0"/>
          </a:p>
        </p:txBody>
      </p:sp>
      <p:sp>
        <p:nvSpPr>
          <p:cNvPr id="12" name="Text 9"/>
          <p:cNvSpPr/>
          <p:nvPr/>
        </p:nvSpPr>
        <p:spPr>
          <a:xfrm>
            <a:off x="2811185" y="5588079"/>
            <a:ext cx="7087553"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Enables targeted DSM programs and integration of variable renewables.</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3" name="Text 0"/>
          <p:cNvSpPr/>
          <p:nvPr/>
        </p:nvSpPr>
        <p:spPr>
          <a:xfrm>
            <a:off x="2778681" y="2209681"/>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Problem Statement</a:t>
            </a:r>
            <a:endParaRPr lang="en-US" sz="3550" dirty="0"/>
          </a:p>
        </p:txBody>
      </p:sp>
      <p:sp>
        <p:nvSpPr>
          <p:cNvPr id="4" name="Text 1"/>
          <p:cNvSpPr/>
          <p:nvPr/>
        </p:nvSpPr>
        <p:spPr>
          <a:xfrm>
            <a:off x="2778681" y="3116818"/>
            <a:ext cx="7556421" cy="2336006"/>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Predict near-term household/feeder electricity consumption with high accuracy.</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Handle irregular sampling, missing readings, and seasonal/behavioral patterns.</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Compare classical ML (Random Forest) vs sequence models (LSTM) for operational forecasting.</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3" name="Text 0"/>
          <p:cNvSpPr/>
          <p:nvPr/>
        </p:nvSpPr>
        <p:spPr>
          <a:xfrm>
            <a:off x="3294763" y="2607643"/>
            <a:ext cx="5281612"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Dataset: UCI Smart Meter</a:t>
            </a:r>
            <a:endParaRPr lang="en-US" sz="3550" dirty="0"/>
          </a:p>
        </p:txBody>
      </p:sp>
      <p:sp>
        <p:nvSpPr>
          <p:cNvPr id="4" name="Text 1"/>
          <p:cNvSpPr/>
          <p:nvPr/>
        </p:nvSpPr>
        <p:spPr>
          <a:xfrm>
            <a:off x="3294763" y="3401432"/>
            <a:ext cx="8284131"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Household-level electricity readings sampled at 10–30 minutes intervals (multiple households, multiple days). Includes timestamps, meter readings, and some contextual metadata.</a:t>
            </a:r>
            <a:endParaRPr lang="en-US" sz="1750" dirty="0"/>
          </a:p>
        </p:txBody>
      </p:sp>
      <p:sp>
        <p:nvSpPr>
          <p:cNvPr id="5" name="Text 2"/>
          <p:cNvSpPr/>
          <p:nvPr/>
        </p:nvSpPr>
        <p:spPr>
          <a:xfrm>
            <a:off x="3294763" y="4694213"/>
            <a:ext cx="8284131" cy="8051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Size: tens to hundreds of households; long-term logs</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Challenges: missing data, irregular intervals, daylight saving shifts</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3" name="Text 0"/>
          <p:cNvSpPr/>
          <p:nvPr/>
        </p:nvSpPr>
        <p:spPr>
          <a:xfrm>
            <a:off x="3837396" y="791408"/>
            <a:ext cx="4055745" cy="506849"/>
          </a:xfrm>
          <a:prstGeom prst="rect">
            <a:avLst/>
          </a:prstGeom>
          <a:noFill/>
          <a:ln/>
        </p:spPr>
        <p:txBody>
          <a:bodyPr wrap="none" lIns="0" tIns="0" rIns="0" bIns="0" rtlCol="0" anchor="t"/>
          <a:lstStyle/>
          <a:p>
            <a:pPr marL="0" indent="0" algn="l">
              <a:lnSpc>
                <a:spcPts val="3950"/>
              </a:lnSpc>
              <a:buNone/>
            </a:pPr>
            <a:r>
              <a:rPr lang="en-US" sz="3150" dirty="0">
                <a:solidFill>
                  <a:srgbClr val="1B1B27"/>
                </a:solidFill>
                <a:latin typeface="Raleway" pitchFamily="34" charset="0"/>
                <a:ea typeface="Raleway" pitchFamily="34" charset="-122"/>
                <a:cs typeface="Raleway" pitchFamily="34" charset="-120"/>
              </a:rPr>
              <a:t>Data Preprocessing</a:t>
            </a:r>
            <a:endParaRPr lang="en-US" sz="3150" dirty="0"/>
          </a:p>
        </p:txBody>
      </p:sp>
      <p:sp>
        <p:nvSpPr>
          <p:cNvPr id="4" name="Shape 1"/>
          <p:cNvSpPr/>
          <p:nvPr/>
        </p:nvSpPr>
        <p:spPr>
          <a:xfrm>
            <a:off x="3837396" y="1570196"/>
            <a:ext cx="202763" cy="1216700"/>
          </a:xfrm>
          <a:prstGeom prst="roundRect">
            <a:avLst>
              <a:gd name="adj" fmla="val 42006"/>
            </a:avLst>
          </a:prstGeom>
          <a:solidFill>
            <a:srgbClr val="E1E1EA"/>
          </a:solidFill>
          <a:ln w="7620">
            <a:solidFill>
              <a:srgbClr val="C7C7D0"/>
            </a:solidFill>
            <a:prstDash val="solid"/>
          </a:ln>
        </p:spPr>
      </p:sp>
      <p:sp>
        <p:nvSpPr>
          <p:cNvPr id="5" name="Text 2"/>
          <p:cNvSpPr/>
          <p:nvPr/>
        </p:nvSpPr>
        <p:spPr>
          <a:xfrm>
            <a:off x="4221372" y="1772960"/>
            <a:ext cx="3112175" cy="31682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1. Resampling &amp; Alignment</a:t>
            </a:r>
            <a:endParaRPr lang="en-US" sz="1950" dirty="0"/>
          </a:p>
        </p:txBody>
      </p:sp>
      <p:sp>
        <p:nvSpPr>
          <p:cNvPr id="6" name="Text 3"/>
          <p:cNvSpPr/>
          <p:nvPr/>
        </p:nvSpPr>
        <p:spPr>
          <a:xfrm>
            <a:off x="4221372" y="2198489"/>
            <a:ext cx="7340560" cy="307181"/>
          </a:xfrm>
          <a:prstGeom prst="rect">
            <a:avLst/>
          </a:prstGeom>
          <a:noFill/>
          <a:ln/>
        </p:spPr>
        <p:txBody>
          <a:bodyPr wrap="none" lIns="0" tIns="0" rIns="0" bIns="0" rtlCol="0" anchor="t"/>
          <a:lstStyle/>
          <a:p>
            <a:pPr marL="0" indent="0" algn="l">
              <a:lnSpc>
                <a:spcPts val="2400"/>
              </a:lnSpc>
              <a:buNone/>
            </a:pPr>
            <a:r>
              <a:rPr lang="en-US" sz="1550" dirty="0">
                <a:solidFill>
                  <a:srgbClr val="3C3939"/>
                </a:solidFill>
                <a:latin typeface="Roboto" pitchFamily="34" charset="0"/>
                <a:ea typeface="Roboto" pitchFamily="34" charset="-122"/>
                <a:cs typeface="Roboto" pitchFamily="34" charset="-120"/>
              </a:rPr>
              <a:t>Uniform sampling (e.g., 30-minutely) to create consistent time steps.</a:t>
            </a:r>
            <a:endParaRPr lang="en-US" sz="1550" dirty="0"/>
          </a:p>
        </p:txBody>
      </p:sp>
      <p:sp>
        <p:nvSpPr>
          <p:cNvPr id="7" name="Shape 4"/>
          <p:cNvSpPr/>
          <p:nvPr/>
        </p:nvSpPr>
        <p:spPr>
          <a:xfrm>
            <a:off x="4141481" y="2968109"/>
            <a:ext cx="202763" cy="1445419"/>
          </a:xfrm>
          <a:prstGeom prst="roundRect">
            <a:avLst>
              <a:gd name="adj" fmla="val 42006"/>
            </a:avLst>
          </a:prstGeom>
          <a:solidFill>
            <a:srgbClr val="E1E1EA"/>
          </a:solidFill>
          <a:ln w="7620">
            <a:solidFill>
              <a:srgbClr val="C7C7D0"/>
            </a:solidFill>
            <a:prstDash val="solid"/>
          </a:ln>
        </p:spPr>
      </p:sp>
      <p:sp>
        <p:nvSpPr>
          <p:cNvPr id="8" name="Text 5"/>
          <p:cNvSpPr/>
          <p:nvPr/>
        </p:nvSpPr>
        <p:spPr>
          <a:xfrm>
            <a:off x="4525458" y="3170873"/>
            <a:ext cx="2969538" cy="31682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2. Missing Value Handling</a:t>
            </a:r>
            <a:endParaRPr lang="en-US" sz="1950" dirty="0"/>
          </a:p>
        </p:txBody>
      </p:sp>
      <p:sp>
        <p:nvSpPr>
          <p:cNvPr id="9" name="Text 6"/>
          <p:cNvSpPr/>
          <p:nvPr/>
        </p:nvSpPr>
        <p:spPr>
          <a:xfrm>
            <a:off x="4525458" y="3596402"/>
            <a:ext cx="7036475" cy="614363"/>
          </a:xfrm>
          <a:prstGeom prst="rect">
            <a:avLst/>
          </a:prstGeom>
          <a:noFill/>
          <a:ln/>
        </p:spPr>
        <p:txBody>
          <a:bodyPr wrap="square" lIns="0" tIns="0" rIns="0" bIns="0" rtlCol="0" anchor="t"/>
          <a:lstStyle/>
          <a:p>
            <a:pPr marL="0" indent="0" algn="l">
              <a:lnSpc>
                <a:spcPts val="2400"/>
              </a:lnSpc>
              <a:buNone/>
            </a:pPr>
            <a:r>
              <a:rPr lang="en-US" sz="1550" dirty="0">
                <a:solidFill>
                  <a:srgbClr val="3C3939"/>
                </a:solidFill>
                <a:latin typeface="Roboto" pitchFamily="34" charset="0"/>
                <a:ea typeface="Roboto" pitchFamily="34" charset="-122"/>
                <a:cs typeface="Roboto" pitchFamily="34" charset="-120"/>
              </a:rPr>
              <a:t>Short gaps: interpolation; long gaps: flag &amp; exclude or impute with seasonal means.</a:t>
            </a:r>
            <a:endParaRPr lang="en-US" sz="1550" dirty="0"/>
          </a:p>
        </p:txBody>
      </p:sp>
      <p:sp>
        <p:nvSpPr>
          <p:cNvPr id="10" name="Shape 7"/>
          <p:cNvSpPr/>
          <p:nvPr/>
        </p:nvSpPr>
        <p:spPr>
          <a:xfrm>
            <a:off x="4445686" y="4594741"/>
            <a:ext cx="202763" cy="1216700"/>
          </a:xfrm>
          <a:prstGeom prst="roundRect">
            <a:avLst>
              <a:gd name="adj" fmla="val 42006"/>
            </a:avLst>
          </a:prstGeom>
          <a:solidFill>
            <a:srgbClr val="E1E1EA"/>
          </a:solidFill>
          <a:ln w="7620">
            <a:solidFill>
              <a:srgbClr val="C7C7D0"/>
            </a:solidFill>
            <a:prstDash val="solid"/>
          </a:ln>
        </p:spPr>
      </p:sp>
      <p:sp>
        <p:nvSpPr>
          <p:cNvPr id="11" name="Text 8"/>
          <p:cNvSpPr/>
          <p:nvPr/>
        </p:nvSpPr>
        <p:spPr>
          <a:xfrm>
            <a:off x="4829662" y="4797504"/>
            <a:ext cx="2534841" cy="31682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3. Outlier Detection</a:t>
            </a:r>
            <a:endParaRPr lang="en-US" sz="1950" dirty="0"/>
          </a:p>
        </p:txBody>
      </p:sp>
      <p:sp>
        <p:nvSpPr>
          <p:cNvPr id="12" name="Text 9"/>
          <p:cNvSpPr/>
          <p:nvPr/>
        </p:nvSpPr>
        <p:spPr>
          <a:xfrm>
            <a:off x="4829662" y="5223034"/>
            <a:ext cx="6732270" cy="307181"/>
          </a:xfrm>
          <a:prstGeom prst="rect">
            <a:avLst/>
          </a:prstGeom>
          <a:noFill/>
          <a:ln/>
        </p:spPr>
        <p:txBody>
          <a:bodyPr wrap="none" lIns="0" tIns="0" rIns="0" bIns="0" rtlCol="0" anchor="t"/>
          <a:lstStyle/>
          <a:p>
            <a:pPr marL="0" indent="0" algn="l">
              <a:lnSpc>
                <a:spcPts val="2400"/>
              </a:lnSpc>
              <a:buNone/>
            </a:pPr>
            <a:r>
              <a:rPr lang="en-US" sz="1550" dirty="0">
                <a:solidFill>
                  <a:srgbClr val="3C3939"/>
                </a:solidFill>
                <a:latin typeface="Roboto" pitchFamily="34" charset="0"/>
                <a:ea typeface="Roboto" pitchFamily="34" charset="-122"/>
                <a:cs typeface="Roboto" pitchFamily="34" charset="-120"/>
              </a:rPr>
              <a:t>Winsorization or z-score filtering per household to remove sensor errors.</a:t>
            </a:r>
            <a:endParaRPr lang="en-US" sz="1550" dirty="0"/>
          </a:p>
        </p:txBody>
      </p:sp>
      <p:sp>
        <p:nvSpPr>
          <p:cNvPr id="13" name="Shape 10"/>
          <p:cNvSpPr/>
          <p:nvPr/>
        </p:nvSpPr>
        <p:spPr>
          <a:xfrm>
            <a:off x="4749891" y="5992654"/>
            <a:ext cx="202763" cy="1445419"/>
          </a:xfrm>
          <a:prstGeom prst="roundRect">
            <a:avLst>
              <a:gd name="adj" fmla="val 42006"/>
            </a:avLst>
          </a:prstGeom>
          <a:solidFill>
            <a:srgbClr val="E1E1EA"/>
          </a:solidFill>
          <a:ln w="7620">
            <a:solidFill>
              <a:srgbClr val="C7C7D0"/>
            </a:solidFill>
            <a:prstDash val="solid"/>
          </a:ln>
        </p:spPr>
      </p:sp>
      <p:sp>
        <p:nvSpPr>
          <p:cNvPr id="14" name="Text 11"/>
          <p:cNvSpPr/>
          <p:nvPr/>
        </p:nvSpPr>
        <p:spPr>
          <a:xfrm>
            <a:off x="5133867" y="6195417"/>
            <a:ext cx="2534841" cy="316825"/>
          </a:xfrm>
          <a:prstGeom prst="rect">
            <a:avLst/>
          </a:prstGeom>
          <a:noFill/>
          <a:ln/>
        </p:spPr>
        <p:txBody>
          <a:bodyPr wrap="none" lIns="0" tIns="0" rIns="0" bIns="0" rtlCol="0" anchor="t"/>
          <a:lstStyle/>
          <a:p>
            <a:pPr marL="0" indent="0" algn="l">
              <a:lnSpc>
                <a:spcPts val="2450"/>
              </a:lnSpc>
              <a:buNone/>
            </a:pPr>
            <a:r>
              <a:rPr lang="en-US" sz="1950" dirty="0">
                <a:solidFill>
                  <a:srgbClr val="3C3939"/>
                </a:solidFill>
                <a:latin typeface="Raleway" pitchFamily="34" charset="0"/>
                <a:ea typeface="Raleway" pitchFamily="34" charset="-122"/>
                <a:cs typeface="Raleway" pitchFamily="34" charset="-120"/>
              </a:rPr>
              <a:t>4. Scaling</a:t>
            </a:r>
            <a:endParaRPr lang="en-US" sz="1950" dirty="0"/>
          </a:p>
        </p:txBody>
      </p:sp>
      <p:sp>
        <p:nvSpPr>
          <p:cNvPr id="15" name="Text 12"/>
          <p:cNvSpPr/>
          <p:nvPr/>
        </p:nvSpPr>
        <p:spPr>
          <a:xfrm>
            <a:off x="5133867" y="6620947"/>
            <a:ext cx="6428065" cy="614363"/>
          </a:xfrm>
          <a:prstGeom prst="rect">
            <a:avLst/>
          </a:prstGeom>
          <a:noFill/>
          <a:ln/>
        </p:spPr>
        <p:txBody>
          <a:bodyPr wrap="square" lIns="0" tIns="0" rIns="0" bIns="0" rtlCol="0" anchor="t"/>
          <a:lstStyle/>
          <a:p>
            <a:pPr marL="0" indent="0" algn="l">
              <a:lnSpc>
                <a:spcPts val="2400"/>
              </a:lnSpc>
              <a:buNone/>
            </a:pPr>
            <a:r>
              <a:rPr lang="en-US" sz="1550" dirty="0">
                <a:solidFill>
                  <a:srgbClr val="3C3939"/>
                </a:solidFill>
                <a:latin typeface="Roboto" pitchFamily="34" charset="0"/>
                <a:ea typeface="Roboto" pitchFamily="34" charset="-122"/>
                <a:cs typeface="Roboto" pitchFamily="34" charset="-120"/>
              </a:rPr>
              <a:t>Train-time scaler (Standard / MinMax) fit on training set, applied to validation/test.</a:t>
            </a:r>
            <a:endParaRPr lang="en-US" sz="15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3" name="Text 0"/>
          <p:cNvSpPr/>
          <p:nvPr/>
        </p:nvSpPr>
        <p:spPr>
          <a:xfrm>
            <a:off x="5097553" y="1398888"/>
            <a:ext cx="4130993" cy="516374"/>
          </a:xfrm>
          <a:prstGeom prst="rect">
            <a:avLst/>
          </a:prstGeom>
          <a:noFill/>
          <a:ln/>
        </p:spPr>
        <p:txBody>
          <a:bodyPr wrap="none" lIns="0" tIns="0" rIns="0" bIns="0" rtlCol="0" anchor="t"/>
          <a:lstStyle/>
          <a:p>
            <a:pPr marL="0" indent="0" algn="l">
              <a:lnSpc>
                <a:spcPts val="4050"/>
              </a:lnSpc>
              <a:buNone/>
            </a:pPr>
            <a:r>
              <a:rPr lang="en-US" sz="3250" dirty="0">
                <a:solidFill>
                  <a:srgbClr val="1B1B27"/>
                </a:solidFill>
                <a:latin typeface="Raleway" pitchFamily="34" charset="0"/>
                <a:ea typeface="Raleway" pitchFamily="34" charset="-122"/>
                <a:cs typeface="Raleway" pitchFamily="34" charset="-120"/>
              </a:rPr>
              <a:t>Feature Engineering</a:t>
            </a:r>
            <a:endParaRPr lang="en-US" sz="3250" dirty="0"/>
          </a:p>
        </p:txBody>
      </p:sp>
      <p:pic>
        <p:nvPicPr>
          <p:cNvPr id="4" name="Image 1" descr="preencoded.png"/>
          <p:cNvPicPr>
            <a:picLocks noChangeAspect="1"/>
          </p:cNvPicPr>
          <p:nvPr/>
        </p:nvPicPr>
        <p:blipFill>
          <a:blip r:embed="rId3"/>
          <a:stretch>
            <a:fillRect/>
          </a:stretch>
        </p:blipFill>
        <p:spPr>
          <a:xfrm>
            <a:off x="5097553" y="2126836"/>
            <a:ext cx="943094" cy="1178838"/>
          </a:xfrm>
          <a:prstGeom prst="rect">
            <a:avLst/>
          </a:prstGeom>
        </p:spPr>
      </p:pic>
      <p:sp>
        <p:nvSpPr>
          <p:cNvPr id="5" name="Text 1"/>
          <p:cNvSpPr/>
          <p:nvPr/>
        </p:nvSpPr>
        <p:spPr>
          <a:xfrm>
            <a:off x="6275676" y="2126836"/>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Time Features</a:t>
            </a:r>
            <a:endParaRPr lang="en-US" sz="2000" dirty="0"/>
          </a:p>
        </p:txBody>
      </p:sp>
      <p:sp>
        <p:nvSpPr>
          <p:cNvPr id="6" name="Text 2"/>
          <p:cNvSpPr/>
          <p:nvPr/>
        </p:nvSpPr>
        <p:spPr>
          <a:xfrm>
            <a:off x="6275676" y="2637614"/>
            <a:ext cx="3108960" cy="946904"/>
          </a:xfrm>
          <a:prstGeom prst="rect">
            <a:avLst/>
          </a:prstGeom>
          <a:noFill/>
          <a:ln/>
        </p:spPr>
        <p:txBody>
          <a:bodyPr wrap="square" lIns="0" tIns="0" rIns="0" bIns="0" rtlCol="0" anchor="t"/>
          <a:lstStyle/>
          <a:p>
            <a:pPr marL="0" indent="0" algn="l">
              <a:lnSpc>
                <a:spcPts val="2450"/>
              </a:lnSpc>
              <a:buNone/>
            </a:pPr>
            <a:r>
              <a:rPr lang="en-US" sz="1600" dirty="0">
                <a:solidFill>
                  <a:srgbClr val="3C3939"/>
                </a:solidFill>
                <a:latin typeface="Roboto" pitchFamily="34" charset="0"/>
                <a:ea typeface="Roboto" pitchFamily="34" charset="-122"/>
                <a:cs typeface="Roboto" pitchFamily="34" charset="-120"/>
              </a:rPr>
              <a:t>hour of day, day of week, holiday flag, seasonal sin/cos embeddings.</a:t>
            </a:r>
            <a:endParaRPr lang="en-US" sz="1600" dirty="0"/>
          </a:p>
        </p:txBody>
      </p:sp>
      <p:pic>
        <p:nvPicPr>
          <p:cNvPr id="7" name="Image 2" descr="preencoded.png"/>
          <p:cNvPicPr>
            <a:picLocks noChangeAspect="1"/>
          </p:cNvPicPr>
          <p:nvPr/>
        </p:nvPicPr>
        <p:blipFill>
          <a:blip r:embed="rId4"/>
          <a:stretch>
            <a:fillRect/>
          </a:stretch>
        </p:blipFill>
        <p:spPr>
          <a:xfrm>
            <a:off x="5097553" y="3960636"/>
            <a:ext cx="943094" cy="1178838"/>
          </a:xfrm>
          <a:prstGeom prst="rect">
            <a:avLst/>
          </a:prstGeom>
        </p:spPr>
      </p:pic>
      <p:sp>
        <p:nvSpPr>
          <p:cNvPr id="8" name="Text 3"/>
          <p:cNvSpPr/>
          <p:nvPr/>
        </p:nvSpPr>
        <p:spPr>
          <a:xfrm>
            <a:off x="6275676" y="3960636"/>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Lag Features</a:t>
            </a:r>
            <a:endParaRPr lang="en-US" sz="2000" dirty="0"/>
          </a:p>
        </p:txBody>
      </p:sp>
      <p:sp>
        <p:nvSpPr>
          <p:cNvPr id="9" name="Text 4"/>
          <p:cNvSpPr/>
          <p:nvPr/>
        </p:nvSpPr>
        <p:spPr>
          <a:xfrm>
            <a:off x="6275676" y="4471415"/>
            <a:ext cx="3108960" cy="631269"/>
          </a:xfrm>
          <a:prstGeom prst="rect">
            <a:avLst/>
          </a:prstGeom>
          <a:noFill/>
          <a:ln/>
        </p:spPr>
        <p:txBody>
          <a:bodyPr wrap="square" lIns="0" tIns="0" rIns="0" bIns="0" rtlCol="0" anchor="t"/>
          <a:lstStyle/>
          <a:p>
            <a:pPr marL="0" indent="0" algn="l">
              <a:lnSpc>
                <a:spcPts val="2450"/>
              </a:lnSpc>
              <a:buNone/>
            </a:pPr>
            <a:r>
              <a:rPr lang="en-US" sz="1600" dirty="0">
                <a:solidFill>
                  <a:srgbClr val="3C3939"/>
                </a:solidFill>
                <a:latin typeface="Roboto" pitchFamily="34" charset="0"/>
                <a:ea typeface="Roboto" pitchFamily="34" charset="-122"/>
                <a:cs typeface="Roboto" pitchFamily="34" charset="-120"/>
              </a:rPr>
              <a:t>t-1, t-24, t-48 readings to capture autoregressive behavior.</a:t>
            </a:r>
            <a:endParaRPr lang="en-US" sz="1600" dirty="0"/>
          </a:p>
        </p:txBody>
      </p:sp>
      <p:pic>
        <p:nvPicPr>
          <p:cNvPr id="10" name="Image 3" descr="preencoded.png"/>
          <p:cNvPicPr>
            <a:picLocks noChangeAspect="1"/>
          </p:cNvPicPr>
          <p:nvPr/>
        </p:nvPicPr>
        <p:blipFill>
          <a:blip r:embed="rId5"/>
          <a:stretch>
            <a:fillRect/>
          </a:stretch>
        </p:blipFill>
        <p:spPr>
          <a:xfrm>
            <a:off x="5097553" y="5515593"/>
            <a:ext cx="943094" cy="1178838"/>
          </a:xfrm>
          <a:prstGeom prst="rect">
            <a:avLst/>
          </a:prstGeom>
        </p:spPr>
      </p:pic>
      <p:sp>
        <p:nvSpPr>
          <p:cNvPr id="11" name="Text 5"/>
          <p:cNvSpPr/>
          <p:nvPr/>
        </p:nvSpPr>
        <p:spPr>
          <a:xfrm>
            <a:off x="6275676" y="5515593"/>
            <a:ext cx="2581870" cy="322778"/>
          </a:xfrm>
          <a:prstGeom prst="rect">
            <a:avLst/>
          </a:prstGeom>
          <a:noFill/>
          <a:ln/>
        </p:spPr>
        <p:txBody>
          <a:bodyPr wrap="none" lIns="0" tIns="0" rIns="0" bIns="0" rtlCol="0" anchor="t"/>
          <a:lstStyle/>
          <a:p>
            <a:pPr marL="0" indent="0" algn="l">
              <a:lnSpc>
                <a:spcPts val="2500"/>
              </a:lnSpc>
              <a:buNone/>
            </a:pPr>
            <a:r>
              <a:rPr lang="en-US" sz="2000" dirty="0">
                <a:solidFill>
                  <a:srgbClr val="3C3939"/>
                </a:solidFill>
                <a:latin typeface="Raleway" pitchFamily="34" charset="0"/>
                <a:ea typeface="Raleway" pitchFamily="34" charset="-122"/>
                <a:cs typeface="Raleway" pitchFamily="34" charset="-120"/>
              </a:rPr>
              <a:t>Rolling Features</a:t>
            </a:r>
            <a:endParaRPr lang="en-US" sz="2000" dirty="0"/>
          </a:p>
        </p:txBody>
      </p:sp>
      <p:sp>
        <p:nvSpPr>
          <p:cNvPr id="12" name="Text 6"/>
          <p:cNvSpPr/>
          <p:nvPr/>
        </p:nvSpPr>
        <p:spPr>
          <a:xfrm>
            <a:off x="6275676" y="6026371"/>
            <a:ext cx="3108960" cy="946904"/>
          </a:xfrm>
          <a:prstGeom prst="rect">
            <a:avLst/>
          </a:prstGeom>
          <a:noFill/>
          <a:ln/>
        </p:spPr>
        <p:txBody>
          <a:bodyPr wrap="square" lIns="0" tIns="0" rIns="0" bIns="0" rtlCol="0" anchor="t"/>
          <a:lstStyle/>
          <a:p>
            <a:pPr marL="0" indent="0" algn="l">
              <a:lnSpc>
                <a:spcPts val="2450"/>
              </a:lnSpc>
              <a:buNone/>
            </a:pPr>
            <a:r>
              <a:rPr lang="en-US" sz="1600" dirty="0">
                <a:solidFill>
                  <a:srgbClr val="3C3939"/>
                </a:solidFill>
                <a:latin typeface="Roboto" pitchFamily="34" charset="0"/>
                <a:ea typeface="Roboto" pitchFamily="34" charset="-122"/>
                <a:cs typeface="Roboto" pitchFamily="34" charset="-120"/>
              </a:rPr>
              <a:t>rolling mean/std (window=3–24 hours) to represent local trends and volatility.</a:t>
            </a:r>
            <a:endParaRPr lang="en-US" sz="16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3" name="Text 0"/>
          <p:cNvSpPr/>
          <p:nvPr/>
        </p:nvSpPr>
        <p:spPr>
          <a:xfrm>
            <a:off x="6280190" y="2365653"/>
            <a:ext cx="5409009"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Data Visualization Insights</a:t>
            </a:r>
            <a:endParaRPr lang="en-US" sz="3550" dirty="0"/>
          </a:p>
        </p:txBody>
      </p:sp>
      <p:sp>
        <p:nvSpPr>
          <p:cNvPr id="4" name="Text 1"/>
          <p:cNvSpPr/>
          <p:nvPr/>
        </p:nvSpPr>
        <p:spPr>
          <a:xfrm>
            <a:off x="6280190" y="3272790"/>
            <a:ext cx="7556421" cy="1610201"/>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Strong daily cycle: peak in evening hours and trough at night.</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Weekly pattern: weekdays &gt; weekends for many households.</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Autocorrelation high at 24-hour lag; residual variance increases during transitional seasons.</a:t>
            </a:r>
            <a:endParaRPr lang="en-US" sz="1750" dirty="0"/>
          </a:p>
        </p:txBody>
      </p:sp>
      <p:sp>
        <p:nvSpPr>
          <p:cNvPr id="5" name="Text 2"/>
          <p:cNvSpPr/>
          <p:nvPr/>
        </p:nvSpPr>
        <p:spPr>
          <a:xfrm>
            <a:off x="6280190" y="5138142"/>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Visualizations guide model selection and feature windows (e.g., include 24h and 7d lags).</a:t>
            </a:r>
            <a:endParaRPr lang="en-US" sz="1750" dirty="0"/>
          </a:p>
        </p:txBody>
      </p:sp>
      <p:pic>
        <p:nvPicPr>
          <p:cNvPr id="7" name="Picture 6">
            <a:extLst>
              <a:ext uri="{FF2B5EF4-FFF2-40B4-BE49-F238E27FC236}">
                <a16:creationId xmlns:a16="http://schemas.microsoft.com/office/drawing/2014/main" id="{E8750D20-7651-04B8-1A30-0760814A84CA}"/>
              </a:ext>
            </a:extLst>
          </p:cNvPr>
          <p:cNvPicPr>
            <a:picLocks noChangeAspect="1"/>
          </p:cNvPicPr>
          <p:nvPr/>
        </p:nvPicPr>
        <p:blipFill>
          <a:blip r:embed="rId3"/>
          <a:stretch>
            <a:fillRect/>
          </a:stretch>
        </p:blipFill>
        <p:spPr>
          <a:xfrm>
            <a:off x="481776" y="4161836"/>
            <a:ext cx="4958904" cy="3404221"/>
          </a:xfrm>
          <a:prstGeom prst="rect">
            <a:avLst/>
          </a:prstGeom>
        </p:spPr>
      </p:pic>
      <p:pic>
        <p:nvPicPr>
          <p:cNvPr id="9" name="Picture 8">
            <a:extLst>
              <a:ext uri="{FF2B5EF4-FFF2-40B4-BE49-F238E27FC236}">
                <a16:creationId xmlns:a16="http://schemas.microsoft.com/office/drawing/2014/main" id="{9F004A60-4B09-077C-FBF1-B3F6F27D01E0}"/>
              </a:ext>
            </a:extLst>
          </p:cNvPr>
          <p:cNvPicPr>
            <a:picLocks noChangeAspect="1"/>
          </p:cNvPicPr>
          <p:nvPr/>
        </p:nvPicPr>
        <p:blipFill>
          <a:blip r:embed="rId4"/>
          <a:stretch>
            <a:fillRect/>
          </a:stretch>
        </p:blipFill>
        <p:spPr>
          <a:xfrm>
            <a:off x="214669" y="426903"/>
            <a:ext cx="5226011" cy="34042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2104668"/>
            <a:ext cx="8284131" cy="3090267"/>
          </a:xfrm>
          <a:prstGeom prst="rect">
            <a:avLst/>
          </a:prstGeom>
        </p:spPr>
      </p:pic>
      <p:sp>
        <p:nvSpPr>
          <p:cNvPr id="3" name="Text 0"/>
          <p:cNvSpPr/>
          <p:nvPr/>
        </p:nvSpPr>
        <p:spPr>
          <a:xfrm>
            <a:off x="1451829" y="2276026"/>
            <a:ext cx="1793897" cy="235763"/>
          </a:xfrm>
          <a:prstGeom prst="rect">
            <a:avLst/>
          </a:prstGeom>
          <a:noFill/>
          <a:ln/>
        </p:spPr>
        <p:txBody>
          <a:bodyPr wrap="none" lIns="0" tIns="0" rIns="0" bIns="0" rtlCol="0" anchor="t"/>
          <a:lstStyle/>
          <a:p>
            <a:pPr marL="0" indent="0" algn="r">
              <a:lnSpc>
                <a:spcPts val="1850"/>
              </a:lnSpc>
              <a:buNone/>
            </a:pPr>
            <a:r>
              <a:rPr lang="en-US" sz="1450" dirty="0">
                <a:solidFill>
                  <a:srgbClr val="3C3939"/>
                </a:solidFill>
                <a:latin typeface="Raleway" pitchFamily="34" charset="0"/>
                <a:ea typeface="Raleway" pitchFamily="34" charset="-122"/>
                <a:cs typeface="Raleway" pitchFamily="34" charset="-120"/>
              </a:rPr>
              <a:t>Input Sequence</a:t>
            </a:r>
            <a:endParaRPr lang="en-US" sz="1450" dirty="0"/>
          </a:p>
        </p:txBody>
      </p:sp>
      <p:sp>
        <p:nvSpPr>
          <p:cNvPr id="4" name="Text 1"/>
          <p:cNvSpPr/>
          <p:nvPr/>
        </p:nvSpPr>
        <p:spPr>
          <a:xfrm>
            <a:off x="1451829" y="2578851"/>
            <a:ext cx="1793897" cy="377221"/>
          </a:xfrm>
          <a:prstGeom prst="rect">
            <a:avLst/>
          </a:prstGeom>
          <a:noFill/>
          <a:ln/>
        </p:spPr>
        <p:txBody>
          <a:bodyPr wrap="square" lIns="0" tIns="0" rIns="0" bIns="0" rtlCol="0" anchor="t"/>
          <a:lstStyle/>
          <a:p>
            <a:pPr marL="0" indent="0" algn="r">
              <a:lnSpc>
                <a:spcPts val="1450"/>
              </a:lnSpc>
              <a:buNone/>
            </a:pPr>
            <a:r>
              <a:rPr lang="en-US" sz="1150" dirty="0">
                <a:solidFill>
                  <a:srgbClr val="3C3939"/>
                </a:solidFill>
                <a:latin typeface="Roboto" pitchFamily="34" charset="0"/>
                <a:ea typeface="Roboto" pitchFamily="34" charset="-122"/>
                <a:cs typeface="Roboto" pitchFamily="34" charset="-120"/>
              </a:rPr>
              <a:t>Univariate or multivariate time steps</a:t>
            </a:r>
            <a:endParaRPr lang="en-US" sz="1150" dirty="0"/>
          </a:p>
        </p:txBody>
      </p:sp>
      <p:sp>
        <p:nvSpPr>
          <p:cNvPr id="5" name="Text 2"/>
          <p:cNvSpPr/>
          <p:nvPr/>
        </p:nvSpPr>
        <p:spPr>
          <a:xfrm>
            <a:off x="7086836" y="2837667"/>
            <a:ext cx="1793897" cy="235763"/>
          </a:xfrm>
          <a:prstGeom prst="rect">
            <a:avLst/>
          </a:prstGeom>
          <a:noFill/>
          <a:ln/>
        </p:spPr>
        <p:txBody>
          <a:bodyPr wrap="none" lIns="0" tIns="0" rIns="0" bIns="0" rtlCol="0" anchor="t"/>
          <a:lstStyle/>
          <a:p>
            <a:pPr marL="0" indent="0" algn="l">
              <a:lnSpc>
                <a:spcPts val="1850"/>
              </a:lnSpc>
              <a:buNone/>
            </a:pPr>
            <a:r>
              <a:rPr lang="en-US" sz="1450" dirty="0">
                <a:solidFill>
                  <a:srgbClr val="3C3939"/>
                </a:solidFill>
                <a:latin typeface="Raleway" pitchFamily="34" charset="0"/>
                <a:ea typeface="Raleway" pitchFamily="34" charset="-122"/>
                <a:cs typeface="Raleway" pitchFamily="34" charset="-120"/>
              </a:rPr>
              <a:t>LSTM Layer 1</a:t>
            </a:r>
            <a:endParaRPr lang="en-US" sz="1450" dirty="0"/>
          </a:p>
        </p:txBody>
      </p:sp>
      <p:sp>
        <p:nvSpPr>
          <p:cNvPr id="6" name="Text 3"/>
          <p:cNvSpPr/>
          <p:nvPr/>
        </p:nvSpPr>
        <p:spPr>
          <a:xfrm>
            <a:off x="7086836" y="3140492"/>
            <a:ext cx="1793897" cy="377222"/>
          </a:xfrm>
          <a:prstGeom prst="rect">
            <a:avLst/>
          </a:prstGeom>
          <a:noFill/>
          <a:ln/>
        </p:spPr>
        <p:txBody>
          <a:bodyPr wrap="square" lIns="0" tIns="0" rIns="0" bIns="0" rtlCol="0" anchor="t"/>
          <a:lstStyle/>
          <a:p>
            <a:pPr marL="0" indent="0" algn="l">
              <a:lnSpc>
                <a:spcPts val="1450"/>
              </a:lnSpc>
              <a:buNone/>
            </a:pPr>
            <a:r>
              <a:rPr lang="en-US" sz="1150" dirty="0">
                <a:solidFill>
                  <a:srgbClr val="3C3939"/>
                </a:solidFill>
                <a:latin typeface="Roboto" pitchFamily="34" charset="0"/>
                <a:ea typeface="Roboto" pitchFamily="34" charset="-122"/>
                <a:cs typeface="Roboto" pitchFamily="34" charset="-120"/>
              </a:rPr>
              <a:t>128 units, dropout 0.2 regularization</a:t>
            </a:r>
            <a:endParaRPr lang="en-US" sz="1150" dirty="0"/>
          </a:p>
        </p:txBody>
      </p:sp>
      <p:sp>
        <p:nvSpPr>
          <p:cNvPr id="7" name="Text 4"/>
          <p:cNvSpPr/>
          <p:nvPr/>
        </p:nvSpPr>
        <p:spPr>
          <a:xfrm>
            <a:off x="990780" y="3483134"/>
            <a:ext cx="1793898" cy="235764"/>
          </a:xfrm>
          <a:prstGeom prst="rect">
            <a:avLst/>
          </a:prstGeom>
          <a:noFill/>
          <a:ln/>
        </p:spPr>
        <p:txBody>
          <a:bodyPr wrap="none" lIns="0" tIns="0" rIns="0" bIns="0" rtlCol="0" anchor="t"/>
          <a:lstStyle/>
          <a:p>
            <a:pPr marL="0" indent="0" algn="r">
              <a:lnSpc>
                <a:spcPts val="1850"/>
              </a:lnSpc>
              <a:buNone/>
            </a:pPr>
            <a:r>
              <a:rPr lang="en-US" sz="1450" dirty="0">
                <a:solidFill>
                  <a:srgbClr val="3C3939"/>
                </a:solidFill>
                <a:latin typeface="Raleway" pitchFamily="34" charset="0"/>
                <a:ea typeface="Raleway" pitchFamily="34" charset="-122"/>
                <a:cs typeface="Raleway" pitchFamily="34" charset="-120"/>
              </a:rPr>
              <a:t>LSTM Layer 2</a:t>
            </a:r>
            <a:endParaRPr lang="en-US" sz="1450" dirty="0"/>
          </a:p>
        </p:txBody>
      </p:sp>
      <p:sp>
        <p:nvSpPr>
          <p:cNvPr id="8" name="Text 5"/>
          <p:cNvSpPr/>
          <p:nvPr/>
        </p:nvSpPr>
        <p:spPr>
          <a:xfrm>
            <a:off x="990780" y="3785960"/>
            <a:ext cx="1793898" cy="377221"/>
          </a:xfrm>
          <a:prstGeom prst="rect">
            <a:avLst/>
          </a:prstGeom>
          <a:noFill/>
          <a:ln/>
        </p:spPr>
        <p:txBody>
          <a:bodyPr wrap="square" lIns="0" tIns="0" rIns="0" bIns="0" rtlCol="0" anchor="t"/>
          <a:lstStyle/>
          <a:p>
            <a:pPr marL="0" indent="0" algn="r">
              <a:lnSpc>
                <a:spcPts val="1450"/>
              </a:lnSpc>
              <a:buNone/>
            </a:pPr>
            <a:r>
              <a:rPr lang="en-US" sz="1150" dirty="0">
                <a:solidFill>
                  <a:srgbClr val="3C3939"/>
                </a:solidFill>
                <a:latin typeface="Roboto" pitchFamily="34" charset="0"/>
                <a:ea typeface="Roboto" pitchFamily="34" charset="-122"/>
                <a:cs typeface="Roboto" pitchFamily="34" charset="-120"/>
              </a:rPr>
              <a:t>64 units, dropout 0.2, L2 weight decay</a:t>
            </a:r>
            <a:endParaRPr lang="en-US" sz="1150" dirty="0"/>
          </a:p>
        </p:txBody>
      </p:sp>
      <p:sp>
        <p:nvSpPr>
          <p:cNvPr id="9" name="Text 6"/>
          <p:cNvSpPr/>
          <p:nvPr/>
        </p:nvSpPr>
        <p:spPr>
          <a:xfrm>
            <a:off x="7086836" y="4262725"/>
            <a:ext cx="1793897" cy="235764"/>
          </a:xfrm>
          <a:prstGeom prst="rect">
            <a:avLst/>
          </a:prstGeom>
          <a:noFill/>
          <a:ln/>
        </p:spPr>
        <p:txBody>
          <a:bodyPr wrap="none" lIns="0" tIns="0" rIns="0" bIns="0" rtlCol="0" anchor="t"/>
          <a:lstStyle/>
          <a:p>
            <a:pPr marL="0" indent="0" algn="l">
              <a:lnSpc>
                <a:spcPts val="1850"/>
              </a:lnSpc>
              <a:buNone/>
            </a:pPr>
            <a:r>
              <a:rPr lang="en-US" sz="1450" dirty="0">
                <a:solidFill>
                  <a:srgbClr val="3C3939"/>
                </a:solidFill>
                <a:latin typeface="Raleway" pitchFamily="34" charset="0"/>
                <a:ea typeface="Raleway" pitchFamily="34" charset="-122"/>
                <a:cs typeface="Raleway" pitchFamily="34" charset="-120"/>
              </a:rPr>
              <a:t>Dense Output</a:t>
            </a:r>
            <a:endParaRPr lang="en-US" sz="1450" dirty="0"/>
          </a:p>
        </p:txBody>
      </p:sp>
      <p:sp>
        <p:nvSpPr>
          <p:cNvPr id="10" name="Text 7"/>
          <p:cNvSpPr/>
          <p:nvPr/>
        </p:nvSpPr>
        <p:spPr>
          <a:xfrm>
            <a:off x="7086836" y="4565550"/>
            <a:ext cx="1793897" cy="377222"/>
          </a:xfrm>
          <a:prstGeom prst="rect">
            <a:avLst/>
          </a:prstGeom>
          <a:noFill/>
          <a:ln/>
        </p:spPr>
        <p:txBody>
          <a:bodyPr wrap="square" lIns="0" tIns="0" rIns="0" bIns="0" rtlCol="0" anchor="t"/>
          <a:lstStyle/>
          <a:p>
            <a:pPr marL="0" indent="0" algn="l">
              <a:lnSpc>
                <a:spcPts val="1450"/>
              </a:lnSpc>
              <a:buNone/>
            </a:pPr>
            <a:r>
              <a:rPr lang="en-US" sz="1150" dirty="0">
                <a:solidFill>
                  <a:srgbClr val="3C3939"/>
                </a:solidFill>
                <a:latin typeface="Roboto" pitchFamily="34" charset="0"/>
                <a:ea typeface="Roboto" pitchFamily="34" charset="-122"/>
                <a:cs typeface="Roboto" pitchFamily="34" charset="-120"/>
              </a:rPr>
              <a:t>Predict next N steps (sequence output)</a:t>
            </a:r>
            <a:endParaRPr lang="en-US" sz="1150" dirty="0"/>
          </a:p>
        </p:txBody>
      </p:sp>
      <p:sp>
        <p:nvSpPr>
          <p:cNvPr id="11" name="Text 8"/>
          <p:cNvSpPr/>
          <p:nvPr/>
        </p:nvSpPr>
        <p:spPr>
          <a:xfrm>
            <a:off x="793790" y="5450086"/>
            <a:ext cx="8284131"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Sequence-to-one or sequence-to-sequence configurations; teacher forcing for multi-step training.</a:t>
            </a:r>
            <a:endParaRPr lang="en-US" sz="1750" dirty="0"/>
          </a:p>
        </p:txBody>
      </p:sp>
      <p:sp>
        <p:nvSpPr>
          <p:cNvPr id="12" name="Text 9"/>
          <p:cNvSpPr/>
          <p:nvPr/>
        </p:nvSpPr>
        <p:spPr>
          <a:xfrm>
            <a:off x="9638943" y="1937623"/>
            <a:ext cx="4205168" cy="1133951"/>
          </a:xfrm>
          <a:prstGeom prst="rect">
            <a:avLst/>
          </a:prstGeom>
          <a:noFill/>
          <a:ln/>
        </p:spPr>
        <p:txBody>
          <a:bodyPr wrap="squar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LSTM: Architecture &amp; Training Choices</a:t>
            </a:r>
            <a:endParaRPr lang="en-US" sz="3550" dirty="0"/>
          </a:p>
        </p:txBody>
      </p:sp>
      <p:sp>
        <p:nvSpPr>
          <p:cNvPr id="13" name="Text 10"/>
          <p:cNvSpPr/>
          <p:nvPr/>
        </p:nvSpPr>
        <p:spPr>
          <a:xfrm>
            <a:off x="9638943" y="3298388"/>
            <a:ext cx="4205168" cy="314110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Layers: 2 LSTM layers (128 → 64 units) + Dense output.</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Regularization: dropout 0.2, L2 weight decay.</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Loss &amp; optimization: MSE loss; Adam with cyclical/step LR.</a:t>
            </a:r>
            <a:endParaRPr lang="en-US" sz="1750" dirty="0"/>
          </a:p>
          <a:p>
            <a:pPr marL="342900" indent="-342900" algn="l">
              <a:lnSpc>
                <a:spcPts val="2850"/>
              </a:lnSpc>
              <a:buSzPct val="100000"/>
              <a:buChar char="•"/>
            </a:pPr>
            <a:r>
              <a:rPr lang="en-US" sz="1750" dirty="0">
                <a:solidFill>
                  <a:srgbClr val="3C3939"/>
                </a:solidFill>
                <a:latin typeface="Roboto" pitchFamily="34" charset="0"/>
                <a:ea typeface="Roboto" pitchFamily="34" charset="-122"/>
                <a:cs typeface="Roboto" pitchFamily="34" charset="-120"/>
              </a:rPr>
              <a:t>Windowing: lookback 48–168 steps (1–7 days) depending on horizon.</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3" name="Text 0"/>
          <p:cNvSpPr/>
          <p:nvPr/>
        </p:nvSpPr>
        <p:spPr>
          <a:xfrm>
            <a:off x="4942642" y="1361242"/>
            <a:ext cx="4650819" cy="566976"/>
          </a:xfrm>
          <a:prstGeom prst="rect">
            <a:avLst/>
          </a:prstGeom>
          <a:noFill/>
          <a:ln/>
        </p:spPr>
        <p:txBody>
          <a:bodyPr wrap="none" lIns="0" tIns="0" rIns="0" bIns="0" rtlCol="0" anchor="t"/>
          <a:lstStyle/>
          <a:p>
            <a:pPr marL="0" indent="0" algn="l">
              <a:lnSpc>
                <a:spcPts val="4450"/>
              </a:lnSpc>
              <a:buNone/>
            </a:pPr>
            <a:r>
              <a:rPr lang="en-US" sz="3550" dirty="0">
                <a:solidFill>
                  <a:srgbClr val="1B1B27"/>
                </a:solidFill>
                <a:latin typeface="Raleway" pitchFamily="34" charset="0"/>
                <a:ea typeface="Raleway" pitchFamily="34" charset="-122"/>
                <a:cs typeface="Raleway" pitchFamily="34" charset="-120"/>
              </a:rPr>
              <a:t>Random Forest Model</a:t>
            </a:r>
            <a:endParaRPr lang="en-US" sz="3550" dirty="0"/>
          </a:p>
        </p:txBody>
      </p:sp>
      <p:sp>
        <p:nvSpPr>
          <p:cNvPr id="4" name="Shape 1"/>
          <p:cNvSpPr/>
          <p:nvPr/>
        </p:nvSpPr>
        <p:spPr>
          <a:xfrm>
            <a:off x="3371731" y="2428399"/>
            <a:ext cx="3664744" cy="2093714"/>
          </a:xfrm>
          <a:prstGeom prst="roundRect">
            <a:avLst>
              <a:gd name="adj" fmla="val 4550"/>
            </a:avLst>
          </a:prstGeom>
          <a:solidFill>
            <a:srgbClr val="FFFFFF">
              <a:alpha val="95000"/>
            </a:srgbClr>
          </a:solidFill>
          <a:ln w="30480">
            <a:solidFill>
              <a:srgbClr val="C7C7D0"/>
            </a:solidFill>
            <a:prstDash val="solid"/>
          </a:ln>
        </p:spPr>
      </p:sp>
      <p:sp>
        <p:nvSpPr>
          <p:cNvPr id="5" name="Text 2"/>
          <p:cNvSpPr/>
          <p:nvPr/>
        </p:nvSpPr>
        <p:spPr>
          <a:xfrm>
            <a:off x="3658038" y="26908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Setup</a:t>
            </a:r>
            <a:endParaRPr lang="en-US" sz="2200" dirty="0"/>
          </a:p>
        </p:txBody>
      </p:sp>
      <p:sp>
        <p:nvSpPr>
          <p:cNvPr id="6" name="Text 3"/>
          <p:cNvSpPr/>
          <p:nvPr/>
        </p:nvSpPr>
        <p:spPr>
          <a:xfrm>
            <a:off x="3658038" y="3307686"/>
            <a:ext cx="3150156"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Gradient-free ensemble using engineered features (lags, rolling stats, time indicators).</a:t>
            </a:r>
            <a:endParaRPr lang="en-US" sz="1750" dirty="0"/>
          </a:p>
        </p:txBody>
      </p:sp>
      <p:sp>
        <p:nvSpPr>
          <p:cNvPr id="7" name="Shape 4"/>
          <p:cNvSpPr/>
          <p:nvPr/>
        </p:nvSpPr>
        <p:spPr>
          <a:xfrm>
            <a:off x="8228648" y="2428399"/>
            <a:ext cx="3664863" cy="2093714"/>
          </a:xfrm>
          <a:prstGeom prst="roundRect">
            <a:avLst>
              <a:gd name="adj" fmla="val 4550"/>
            </a:avLst>
          </a:prstGeom>
          <a:solidFill>
            <a:srgbClr val="FFFFFF">
              <a:alpha val="95000"/>
            </a:srgbClr>
          </a:solidFill>
          <a:ln w="30480">
            <a:solidFill>
              <a:srgbClr val="C7C7D0"/>
            </a:solidFill>
            <a:prstDash val="solid"/>
          </a:ln>
        </p:spPr>
      </p:sp>
      <p:sp>
        <p:nvSpPr>
          <p:cNvPr id="8" name="Text 5"/>
          <p:cNvSpPr/>
          <p:nvPr/>
        </p:nvSpPr>
        <p:spPr>
          <a:xfrm>
            <a:off x="8537896" y="2619132"/>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Advantages</a:t>
            </a:r>
            <a:endParaRPr lang="en-US" sz="2200" dirty="0"/>
          </a:p>
        </p:txBody>
      </p:sp>
      <p:sp>
        <p:nvSpPr>
          <p:cNvPr id="9" name="Text 6"/>
          <p:cNvSpPr/>
          <p:nvPr/>
        </p:nvSpPr>
        <p:spPr>
          <a:xfrm>
            <a:off x="8537896" y="3164195"/>
            <a:ext cx="3150275" cy="1088708"/>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Robust to outliers, fast to train, interpretable feature importances.</a:t>
            </a:r>
            <a:endParaRPr lang="en-US" sz="1750" dirty="0"/>
          </a:p>
        </p:txBody>
      </p:sp>
      <p:sp>
        <p:nvSpPr>
          <p:cNvPr id="10" name="Shape 7"/>
          <p:cNvSpPr/>
          <p:nvPr/>
        </p:nvSpPr>
        <p:spPr>
          <a:xfrm>
            <a:off x="3715664" y="4888781"/>
            <a:ext cx="7556421" cy="1730812"/>
          </a:xfrm>
          <a:prstGeom prst="roundRect">
            <a:avLst>
              <a:gd name="adj" fmla="val 5504"/>
            </a:avLst>
          </a:prstGeom>
          <a:solidFill>
            <a:srgbClr val="FFFFFF">
              <a:alpha val="95000"/>
            </a:srgbClr>
          </a:solidFill>
          <a:ln w="30480">
            <a:solidFill>
              <a:srgbClr val="C7C7D0"/>
            </a:solidFill>
            <a:prstDash val="solid"/>
          </a:ln>
        </p:spPr>
      </p:sp>
      <p:sp>
        <p:nvSpPr>
          <p:cNvPr id="11" name="Text 8"/>
          <p:cNvSpPr/>
          <p:nvPr/>
        </p:nvSpPr>
        <p:spPr>
          <a:xfrm>
            <a:off x="3972959" y="50672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3C3939"/>
                </a:solidFill>
                <a:latin typeface="Raleway" pitchFamily="34" charset="0"/>
                <a:ea typeface="Raleway" pitchFamily="34" charset="-122"/>
                <a:cs typeface="Raleway" pitchFamily="34" charset="-120"/>
              </a:rPr>
              <a:t>Limitations</a:t>
            </a:r>
            <a:endParaRPr lang="en-US" sz="2200" dirty="0"/>
          </a:p>
        </p:txBody>
      </p:sp>
      <p:sp>
        <p:nvSpPr>
          <p:cNvPr id="12" name="Text 9"/>
          <p:cNvSpPr/>
          <p:nvPr/>
        </p:nvSpPr>
        <p:spPr>
          <a:xfrm>
            <a:off x="3972959" y="5477604"/>
            <a:ext cx="7041832" cy="725805"/>
          </a:xfrm>
          <a:prstGeom prst="rect">
            <a:avLst/>
          </a:prstGeom>
          <a:noFill/>
          <a:ln/>
        </p:spPr>
        <p:txBody>
          <a:bodyPr wrap="square" lIns="0" tIns="0" rIns="0" bIns="0" rtlCol="0" anchor="t"/>
          <a:lstStyle/>
          <a:p>
            <a:pPr marL="0" indent="0" algn="l">
              <a:lnSpc>
                <a:spcPts val="2850"/>
              </a:lnSpc>
              <a:buNone/>
            </a:pPr>
            <a:r>
              <a:rPr lang="en-US" sz="1750" dirty="0">
                <a:solidFill>
                  <a:srgbClr val="3C3939"/>
                </a:solidFill>
                <a:latin typeface="Roboto" pitchFamily="34" charset="0"/>
                <a:ea typeface="Roboto" pitchFamily="34" charset="-122"/>
                <a:cs typeface="Roboto" pitchFamily="34" charset="-120"/>
              </a:rPr>
              <a:t>Does not inherently model sequence dynamics; requires rich lag/rolling features for temporal context.</a:t>
            </a:r>
            <a:endParaRPr lang="en-US" sz="175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name="Slide 10">
    <p:spTree>
      <p:nvGrpSpPr>
        <p:cNvPr id="1" name=""/>
        <p:cNvGrpSpPr/>
        <p:nvPr/>
      </p:nvGrpSpPr>
      <p:grpSpPr>
        <a:xfrm>
          <a:off x="0" y="0"/>
          <a:ext cx="0" cy="0"/>
          <a:chOff x="0" y="0"/>
          <a:chExt cx="0" cy="0"/>
        </a:xfrm>
      </p:grpSpPr>
      <p:sp>
        <p:nvSpPr>
          <p:cNvPr id="3" name="Text 0"/>
          <p:cNvSpPr/>
          <p:nvPr/>
        </p:nvSpPr>
        <p:spPr>
          <a:xfrm>
            <a:off x="6224230" y="695682"/>
            <a:ext cx="7668339" cy="1053941"/>
          </a:xfrm>
          <a:prstGeom prst="rect">
            <a:avLst/>
          </a:prstGeom>
          <a:noFill/>
          <a:ln/>
        </p:spPr>
        <p:txBody>
          <a:bodyPr wrap="square" lIns="0" tIns="0" rIns="0" bIns="0" rtlCol="0" anchor="t"/>
          <a:lstStyle/>
          <a:p>
            <a:pPr marL="0" indent="0" algn="l">
              <a:lnSpc>
                <a:spcPts val="4150"/>
              </a:lnSpc>
              <a:buNone/>
            </a:pPr>
            <a:r>
              <a:rPr lang="en-US" sz="3300" dirty="0">
                <a:solidFill>
                  <a:srgbClr val="1B1B27"/>
                </a:solidFill>
                <a:latin typeface="Raleway" pitchFamily="34" charset="0"/>
                <a:ea typeface="Raleway" pitchFamily="34" charset="-122"/>
                <a:cs typeface="Raleway" pitchFamily="34" charset="-120"/>
              </a:rPr>
              <a:t>Model Training, Evaluation &amp; Comparison</a:t>
            </a:r>
            <a:endParaRPr lang="en-US" sz="33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24230" y="2043470"/>
            <a:ext cx="421600" cy="421600"/>
          </a:xfrm>
          <a:prstGeom prst="rect">
            <a:avLst/>
          </a:prstGeom>
        </p:spPr>
      </p:pic>
      <p:sp>
        <p:nvSpPr>
          <p:cNvPr id="5" name="Text 1"/>
          <p:cNvSpPr/>
          <p:nvPr/>
        </p:nvSpPr>
        <p:spPr>
          <a:xfrm>
            <a:off x="6890742" y="2115860"/>
            <a:ext cx="2635210" cy="329327"/>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Training Protocol</a:t>
            </a:r>
            <a:endParaRPr lang="en-US" sz="2050" dirty="0"/>
          </a:p>
        </p:txBody>
      </p:sp>
      <p:sp>
        <p:nvSpPr>
          <p:cNvPr id="6" name="Text 2"/>
          <p:cNvSpPr/>
          <p:nvPr/>
        </p:nvSpPr>
        <p:spPr>
          <a:xfrm>
            <a:off x="6890742" y="2562701"/>
            <a:ext cx="7001828" cy="650796"/>
          </a:xfrm>
          <a:prstGeom prst="rect">
            <a:avLst/>
          </a:prstGeom>
          <a:noFill/>
          <a:ln/>
        </p:spPr>
        <p:txBody>
          <a:bodyPr wrap="square" lIns="0" tIns="0" rIns="0" bIns="0" rtlCol="0" anchor="t"/>
          <a:lstStyle/>
          <a:p>
            <a:pPr marL="0" indent="0" algn="l">
              <a:lnSpc>
                <a:spcPts val="2550"/>
              </a:lnSpc>
              <a:buNone/>
            </a:pPr>
            <a:r>
              <a:rPr lang="en-US" sz="1650" dirty="0">
                <a:solidFill>
                  <a:srgbClr val="3C3939"/>
                </a:solidFill>
                <a:latin typeface="Roboto" pitchFamily="34" charset="0"/>
                <a:ea typeface="Roboto" pitchFamily="34" charset="-122"/>
                <a:cs typeface="Roboto" pitchFamily="34" charset="-120"/>
              </a:rPr>
              <a:t>Rolling-origin cross-validation, walk-forward retraining on expanding window to simulate production deployment.</a:t>
            </a:r>
            <a:endParaRPr lang="en-US" sz="165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24230" y="3605332"/>
            <a:ext cx="421600" cy="421600"/>
          </a:xfrm>
          <a:prstGeom prst="rect">
            <a:avLst/>
          </a:prstGeom>
        </p:spPr>
      </p:pic>
      <p:sp>
        <p:nvSpPr>
          <p:cNvPr id="8" name="Text 3"/>
          <p:cNvSpPr/>
          <p:nvPr/>
        </p:nvSpPr>
        <p:spPr>
          <a:xfrm>
            <a:off x="6890742" y="3677722"/>
            <a:ext cx="2635210" cy="329327"/>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Evaluation Metrics</a:t>
            </a:r>
            <a:endParaRPr lang="en-US" sz="2050" dirty="0"/>
          </a:p>
        </p:txBody>
      </p:sp>
      <p:sp>
        <p:nvSpPr>
          <p:cNvPr id="9" name="Text 4"/>
          <p:cNvSpPr/>
          <p:nvPr/>
        </p:nvSpPr>
        <p:spPr>
          <a:xfrm>
            <a:off x="6890742" y="4124563"/>
            <a:ext cx="7001828" cy="650796"/>
          </a:xfrm>
          <a:prstGeom prst="rect">
            <a:avLst/>
          </a:prstGeom>
          <a:noFill/>
          <a:ln/>
        </p:spPr>
        <p:txBody>
          <a:bodyPr wrap="square" lIns="0" tIns="0" rIns="0" bIns="0" rtlCol="0" anchor="t"/>
          <a:lstStyle/>
          <a:p>
            <a:pPr marL="0" indent="0" algn="l">
              <a:lnSpc>
                <a:spcPts val="2550"/>
              </a:lnSpc>
              <a:buNone/>
            </a:pPr>
            <a:r>
              <a:rPr lang="en-US" sz="1650" dirty="0">
                <a:solidFill>
                  <a:srgbClr val="3C3939"/>
                </a:solidFill>
                <a:latin typeface="Roboto" pitchFamily="34" charset="0"/>
                <a:ea typeface="Roboto" pitchFamily="34" charset="-122"/>
                <a:cs typeface="Roboto" pitchFamily="34" charset="-120"/>
              </a:rPr>
              <a:t>RMSE, MAE, R² reported per-horizon and aggregated; use normalized errors for cross-household comparison.</a:t>
            </a:r>
            <a:endParaRPr lang="en-US" sz="165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24230" y="5167193"/>
            <a:ext cx="421600" cy="421600"/>
          </a:xfrm>
          <a:prstGeom prst="rect">
            <a:avLst/>
          </a:prstGeom>
        </p:spPr>
      </p:pic>
      <p:sp>
        <p:nvSpPr>
          <p:cNvPr id="11" name="Text 5"/>
          <p:cNvSpPr/>
          <p:nvPr/>
        </p:nvSpPr>
        <p:spPr>
          <a:xfrm>
            <a:off x="6890742" y="5239583"/>
            <a:ext cx="2720221" cy="329327"/>
          </a:xfrm>
          <a:prstGeom prst="rect">
            <a:avLst/>
          </a:prstGeom>
          <a:noFill/>
          <a:ln/>
        </p:spPr>
        <p:txBody>
          <a:bodyPr wrap="none" lIns="0" tIns="0" rIns="0" bIns="0" rtlCol="0" anchor="t"/>
          <a:lstStyle/>
          <a:p>
            <a:pPr marL="0" indent="0" algn="l">
              <a:lnSpc>
                <a:spcPts val="2550"/>
              </a:lnSpc>
              <a:buNone/>
            </a:pPr>
            <a:r>
              <a:rPr lang="en-US" sz="2050" dirty="0">
                <a:solidFill>
                  <a:srgbClr val="3C3939"/>
                </a:solidFill>
                <a:latin typeface="Raleway" pitchFamily="34" charset="0"/>
                <a:ea typeface="Raleway" pitchFamily="34" charset="-122"/>
                <a:cs typeface="Raleway" pitchFamily="34" charset="-120"/>
              </a:rPr>
              <a:t>Comparison Summary</a:t>
            </a:r>
            <a:endParaRPr lang="en-US" sz="2050" dirty="0"/>
          </a:p>
        </p:txBody>
      </p:sp>
      <p:sp>
        <p:nvSpPr>
          <p:cNvPr id="12" name="Text 6"/>
          <p:cNvSpPr/>
          <p:nvPr/>
        </p:nvSpPr>
        <p:spPr>
          <a:xfrm>
            <a:off x="6890742" y="5686425"/>
            <a:ext cx="7001828" cy="976193"/>
          </a:xfrm>
          <a:prstGeom prst="rect">
            <a:avLst/>
          </a:prstGeom>
          <a:noFill/>
          <a:ln/>
        </p:spPr>
        <p:txBody>
          <a:bodyPr wrap="square" lIns="0" tIns="0" rIns="0" bIns="0" rtlCol="0" anchor="t"/>
          <a:lstStyle/>
          <a:p>
            <a:pPr marL="0" indent="0" algn="l">
              <a:lnSpc>
                <a:spcPts val="2550"/>
              </a:lnSpc>
              <a:buNone/>
            </a:pPr>
            <a:r>
              <a:rPr lang="en-US" sz="1650" dirty="0">
                <a:solidFill>
                  <a:srgbClr val="3C3939"/>
                </a:solidFill>
                <a:latin typeface="Roboto" pitchFamily="34" charset="0"/>
                <a:ea typeface="Roboto" pitchFamily="34" charset="-122"/>
                <a:cs typeface="Roboto" pitchFamily="34" charset="-120"/>
              </a:rPr>
              <a:t>LSTM excels on multi-step continuity and long-range patterns; Random Forest competitive on short-horizon when engineered features capture seasonality.</a:t>
            </a:r>
            <a:endParaRPr lang="en-US" sz="1650" dirty="0"/>
          </a:p>
        </p:txBody>
      </p:sp>
      <p:sp>
        <p:nvSpPr>
          <p:cNvPr id="13" name="Text 7"/>
          <p:cNvSpPr/>
          <p:nvPr/>
        </p:nvSpPr>
        <p:spPr>
          <a:xfrm>
            <a:off x="6224230" y="6883003"/>
            <a:ext cx="7668339" cy="650796"/>
          </a:xfrm>
          <a:prstGeom prst="rect">
            <a:avLst/>
          </a:prstGeom>
          <a:noFill/>
          <a:ln/>
        </p:spPr>
        <p:txBody>
          <a:bodyPr wrap="square" lIns="0" tIns="0" rIns="0" bIns="0" rtlCol="0" anchor="t"/>
          <a:lstStyle/>
          <a:p>
            <a:pPr marL="0" indent="0" algn="l">
              <a:lnSpc>
                <a:spcPts val="2550"/>
              </a:lnSpc>
              <a:buNone/>
            </a:pPr>
            <a:r>
              <a:rPr lang="en-US" sz="1650" dirty="0">
                <a:solidFill>
                  <a:srgbClr val="3C3939"/>
                </a:solidFill>
                <a:latin typeface="Roboto" pitchFamily="34" charset="0"/>
                <a:ea typeface="Roboto" pitchFamily="34" charset="-122"/>
                <a:cs typeface="Roboto" pitchFamily="34" charset="-120"/>
              </a:rPr>
              <a:t>Recommendation: hybrid approach — RF for rapid short-horizon forecasts; LSTM for sequence consistency and longer horizons.</a:t>
            </a:r>
            <a:endParaRPr lang="en-US" sz="1650" dirty="0"/>
          </a:p>
        </p:txBody>
      </p:sp>
      <p:pic>
        <p:nvPicPr>
          <p:cNvPr id="17" name="Picture 16">
            <a:extLst>
              <a:ext uri="{FF2B5EF4-FFF2-40B4-BE49-F238E27FC236}">
                <a16:creationId xmlns:a16="http://schemas.microsoft.com/office/drawing/2014/main" id="{E0539906-71C4-7BFC-2234-40C88F853C2C}"/>
              </a:ext>
            </a:extLst>
          </p:cNvPr>
          <p:cNvPicPr>
            <a:picLocks noChangeAspect="1"/>
          </p:cNvPicPr>
          <p:nvPr/>
        </p:nvPicPr>
        <p:blipFill>
          <a:blip r:embed="rId6"/>
          <a:srcRect r="67184" b="3652"/>
          <a:stretch>
            <a:fillRect/>
          </a:stretch>
        </p:blipFill>
        <p:spPr>
          <a:xfrm>
            <a:off x="737830" y="-4450"/>
            <a:ext cx="3049220" cy="2713245"/>
          </a:xfrm>
          <a:prstGeom prst="rect">
            <a:avLst/>
          </a:prstGeom>
        </p:spPr>
      </p:pic>
      <p:pic>
        <p:nvPicPr>
          <p:cNvPr id="19" name="Picture 18">
            <a:extLst>
              <a:ext uri="{FF2B5EF4-FFF2-40B4-BE49-F238E27FC236}">
                <a16:creationId xmlns:a16="http://schemas.microsoft.com/office/drawing/2014/main" id="{64351C24-8E7D-A314-B028-6DCA6C7D86CA}"/>
              </a:ext>
            </a:extLst>
          </p:cNvPr>
          <p:cNvPicPr>
            <a:picLocks noChangeAspect="1"/>
          </p:cNvPicPr>
          <p:nvPr/>
        </p:nvPicPr>
        <p:blipFill>
          <a:blip r:embed="rId6"/>
          <a:srcRect l="32088" r="34417" b="3696"/>
          <a:stretch>
            <a:fillRect/>
          </a:stretch>
        </p:blipFill>
        <p:spPr>
          <a:xfrm>
            <a:off x="2734078" y="2576370"/>
            <a:ext cx="3245240" cy="2827876"/>
          </a:xfrm>
          <a:prstGeom prst="rect">
            <a:avLst/>
          </a:prstGeom>
        </p:spPr>
      </p:pic>
      <p:pic>
        <p:nvPicPr>
          <p:cNvPr id="21" name="Picture 20">
            <a:extLst>
              <a:ext uri="{FF2B5EF4-FFF2-40B4-BE49-F238E27FC236}">
                <a16:creationId xmlns:a16="http://schemas.microsoft.com/office/drawing/2014/main" id="{89742232-69D9-6A8F-2458-28CDE2801603}"/>
              </a:ext>
            </a:extLst>
          </p:cNvPr>
          <p:cNvPicPr>
            <a:picLocks noChangeAspect="1"/>
          </p:cNvPicPr>
          <p:nvPr/>
        </p:nvPicPr>
        <p:blipFill>
          <a:blip r:embed="rId6"/>
          <a:srcRect l="64417" b="6003"/>
          <a:stretch>
            <a:fillRect/>
          </a:stretch>
        </p:blipFill>
        <p:spPr>
          <a:xfrm>
            <a:off x="499772" y="5377993"/>
            <a:ext cx="3525335" cy="2822377"/>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6B35AC-68FA-F8F6-C4E9-BAF584BEC142}"/>
              </a:ext>
            </a:extLst>
          </p:cNvPr>
          <p:cNvSpPr txBox="1"/>
          <p:nvPr/>
        </p:nvSpPr>
        <p:spPr>
          <a:xfrm>
            <a:off x="670560" y="441960"/>
            <a:ext cx="3947160" cy="923330"/>
          </a:xfrm>
          <a:prstGeom prst="rect">
            <a:avLst/>
          </a:prstGeom>
          <a:noFill/>
        </p:spPr>
        <p:txBody>
          <a:bodyPr wrap="square" rtlCol="0">
            <a:spAutoFit/>
          </a:bodyPr>
          <a:lstStyle/>
          <a:p>
            <a:r>
              <a:rPr lang="en-IN" sz="5400" dirty="0"/>
              <a:t>Results</a:t>
            </a:r>
          </a:p>
        </p:txBody>
      </p:sp>
      <p:pic>
        <p:nvPicPr>
          <p:cNvPr id="4" name="Picture 3">
            <a:extLst>
              <a:ext uri="{FF2B5EF4-FFF2-40B4-BE49-F238E27FC236}">
                <a16:creationId xmlns:a16="http://schemas.microsoft.com/office/drawing/2014/main" id="{1FB6211C-3B53-683A-1E4E-C676360DAE84}"/>
              </a:ext>
            </a:extLst>
          </p:cNvPr>
          <p:cNvPicPr>
            <a:picLocks noChangeAspect="1"/>
          </p:cNvPicPr>
          <p:nvPr/>
        </p:nvPicPr>
        <p:blipFill>
          <a:blip r:embed="rId2"/>
          <a:stretch>
            <a:fillRect/>
          </a:stretch>
        </p:blipFill>
        <p:spPr>
          <a:xfrm>
            <a:off x="228600" y="1243370"/>
            <a:ext cx="14218920" cy="6872815"/>
          </a:xfrm>
          <a:prstGeom prst="rect">
            <a:avLst/>
          </a:prstGeom>
        </p:spPr>
      </p:pic>
    </p:spTree>
    <p:extLst>
      <p:ext uri="{BB962C8B-B14F-4D97-AF65-F5344CB8AC3E}">
        <p14:creationId xmlns:p14="http://schemas.microsoft.com/office/powerpoint/2010/main" val="1481858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778B97-6BF4-D8C1-1D29-C6B8A3150214}"/>
              </a:ext>
            </a:extLst>
          </p:cNvPr>
          <p:cNvSpPr txBox="1"/>
          <p:nvPr/>
        </p:nvSpPr>
        <p:spPr>
          <a:xfrm>
            <a:off x="762000" y="1003935"/>
            <a:ext cx="6050280" cy="769441"/>
          </a:xfrm>
          <a:prstGeom prst="rect">
            <a:avLst/>
          </a:prstGeom>
          <a:noFill/>
        </p:spPr>
        <p:txBody>
          <a:bodyPr wrap="square" rtlCol="0">
            <a:spAutoFit/>
          </a:bodyPr>
          <a:lstStyle/>
          <a:p>
            <a:r>
              <a:rPr lang="en-IN" sz="4400" dirty="0"/>
              <a:t>Conclusion</a:t>
            </a:r>
          </a:p>
        </p:txBody>
      </p:sp>
      <p:sp>
        <p:nvSpPr>
          <p:cNvPr id="3" name="TextBox 2">
            <a:extLst>
              <a:ext uri="{FF2B5EF4-FFF2-40B4-BE49-F238E27FC236}">
                <a16:creationId xmlns:a16="http://schemas.microsoft.com/office/drawing/2014/main" id="{EE07A66C-AEB3-F844-6247-DF360A2EC440}"/>
              </a:ext>
            </a:extLst>
          </p:cNvPr>
          <p:cNvSpPr txBox="1"/>
          <p:nvPr/>
        </p:nvSpPr>
        <p:spPr>
          <a:xfrm>
            <a:off x="655320" y="2529840"/>
            <a:ext cx="12496800" cy="4154984"/>
          </a:xfrm>
          <a:prstGeom prst="rect">
            <a:avLst/>
          </a:prstGeom>
          <a:noFill/>
        </p:spPr>
        <p:txBody>
          <a:bodyPr wrap="square" rtlCol="0">
            <a:spAutoFit/>
          </a:bodyPr>
          <a:lstStyle/>
          <a:p>
            <a:r>
              <a:rPr lang="en-GB" sz="2400" dirty="0"/>
              <a:t>The project successfully developed a smart energy consumption forecasting system using both machine learning and deep learning techniques. The dataset was carefully pre-processed, cleaned, and transformed into a time-series format suitable for modelling. Feature engineering, including lag and rolling statistics, played a crucial role in improving prediction accuracy. Both LSTM and Random Forest models were trained and evaluated effectively on the prepared dataset. </a:t>
            </a:r>
          </a:p>
          <a:p>
            <a:r>
              <a:rPr lang="en-GB" sz="2400" dirty="0"/>
              <a:t>The results showed that both models performed well, with Random Forest slightly outperforming LSTM in key metrics like RMSE, MAE, and R² score. This highlights that traditional models can compete with deep learning when features are well engineered. The importance of past consumption values in forecasting was clearly observed through feature importance analysis. Overall, the project demonstrates the potential of machine learning in energy forecasting and its practical applications in smart energy management. </a:t>
            </a:r>
          </a:p>
        </p:txBody>
      </p:sp>
    </p:spTree>
    <p:extLst>
      <p:ext uri="{BB962C8B-B14F-4D97-AF65-F5344CB8AC3E}">
        <p14:creationId xmlns:p14="http://schemas.microsoft.com/office/powerpoint/2010/main" val="3281767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DEFE40-552F-0A3B-47D1-480FFC9FA6B9}"/>
              </a:ext>
            </a:extLst>
          </p:cNvPr>
          <p:cNvSpPr txBox="1"/>
          <p:nvPr/>
        </p:nvSpPr>
        <p:spPr>
          <a:xfrm>
            <a:off x="3947160" y="3391525"/>
            <a:ext cx="9890760" cy="1446550"/>
          </a:xfrm>
          <a:prstGeom prst="rect">
            <a:avLst/>
          </a:prstGeom>
          <a:noFill/>
        </p:spPr>
        <p:txBody>
          <a:bodyPr wrap="square" rtlCol="0">
            <a:spAutoFit/>
          </a:bodyPr>
          <a:lstStyle/>
          <a:p>
            <a:r>
              <a:rPr lang="en-IN" sz="8800" dirty="0"/>
              <a:t>Thank You</a:t>
            </a:r>
          </a:p>
        </p:txBody>
      </p:sp>
    </p:spTree>
    <p:extLst>
      <p:ext uri="{BB962C8B-B14F-4D97-AF65-F5344CB8AC3E}">
        <p14:creationId xmlns:p14="http://schemas.microsoft.com/office/powerpoint/2010/main" val="42675701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Gallery</Template>
  <TotalTime>89</TotalTime>
  <Words>768</Words>
  <Application>Microsoft Office PowerPoint</Application>
  <PresentationFormat>Custom</PresentationFormat>
  <Paragraphs>82</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Raleway</vt:lpstr>
      <vt:lpstr>Roboto</vt:lpstr>
      <vt:lpstr>Arial</vt:lpstr>
      <vt:lpstr>Gill Sans MT</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ODELA PANINDRA KUMAR</cp:lastModifiedBy>
  <cp:revision>7</cp:revision>
  <dcterms:created xsi:type="dcterms:W3CDTF">2026-02-25T10:41:29Z</dcterms:created>
  <dcterms:modified xsi:type="dcterms:W3CDTF">2026-04-15T11:08:34Z</dcterms:modified>
</cp:coreProperties>
</file>